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41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                              </a:t>
            </a:r>
          </a:p>
          <a:p>
            <a:pPr algn="ctr"/>
            <a:r>
              <a:rPr lang="en-IN" dirty="0"/>
              <a:t>          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                                  </a:t>
            </a:r>
          </a:p>
          <a:p>
            <a:pPr algn="ctr"/>
            <a:r>
              <a:rPr lang="en-IN" dirty="0"/>
              <a:t>                       </a:t>
            </a:r>
          </a:p>
          <a:p>
            <a:pPr algn="ctr"/>
            <a:r>
              <a:rPr lang="en-IN" dirty="0"/>
              <a:t>                              										</a:t>
            </a: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BATCH -04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66965" y="1371600"/>
            <a:ext cx="845776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HIRING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6387" y="2468880"/>
            <a:ext cx="63589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Bias-Free Recruitment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876495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944" y="4037619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Mohana Swarupa                   22VV1A0547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Praneetha                               22VV1A0542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Y.S.S.D.V.Satya Swaminadh       22VV1A0555 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Renuka Sri                            22VV1A0509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464" y="4200111"/>
            <a:ext cx="373653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4AF37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Mr. R.D.D.V. SIVARAM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27578" y="5669280"/>
            <a:ext cx="37365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6126480"/>
            <a:ext cx="3047695" cy="4572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8319" y="6172200"/>
            <a:ext cx="2315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 | 23-01-2025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6760" y="365760"/>
            <a:ext cx="26981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Recruitment is a critical process in every organization but is often prone to unconscious bias.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A technology-driven approach to streamline recruitment from job posting to onboarding.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Integrates AI, automation, and data analytics to: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Reduce bias and improve efficiency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Ensure better candidate-job matching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Traditional hiring is often: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Time-consuming, costly, and biased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Smart Hiring enables: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Faster candidate screening with AI-powered resume parsing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Fair evaluations through algorithmic transparency and bias reduction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Data-driven decisions for improved talent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7550" y="365760"/>
            <a:ext cx="44165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 u="sng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Base Paper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021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Title: Fairness and Bias in Algorithmic Hiring: A Multidisciplinary Survey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Authors: Fabris et al., 2025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Source: https://arxiv.org/pdf/2309.13933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Purpose: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Understand how AI in hiring remains fair, transparent, and bias-free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Key Highlights: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Covers the recruitment pipeline end-to-end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Reviews bias sources, fairness metrics, and mitigation methods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Framework for ethical and accountable AI hiring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00238" y="365760"/>
            <a:ext cx="53912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Sources of Bias (Section 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Bias arises from multiple levels in hiring systems: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Institutional Bias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Historical hiring patterns favour certain groups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Individual Bias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Recruiter's subjective patterns and preferences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Technological Bias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Model design and feature selection issues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Key Takeaway: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Bias is socio-technical (data + algorithm + process)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6007" y="365760"/>
            <a:ext cx="81996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Metrics &amp; Measures (Section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4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Common Fairness Concepts: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Outcome Fairness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Equal selection chances across demographic groups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Accuracy Fairness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Equal error rates for different groups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Representational Fairness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Avoid stereotypes in candidate representation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Impact Fairness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Equal long-term benefits (role fit, salary, growth)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→ Choose measurable metrics like Demographic Parity or Equal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9453" y="118422"/>
            <a:ext cx="6942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 Approaches (Section 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5148" y="1232104"/>
            <a:ext cx="10911535" cy="5627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Fairness Interventions Across the Pipeline: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Pre-Processing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Modify data (remove names, rebalance datasets)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In-Processing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Train models with fairness constraints (adversarial debiasing)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Post-Processing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Adjust rankings or outputs to ensure fairness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Challenges: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Fairness-accuracy trade-off, need for domain-specific auditing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Smart Hiring Implementation: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Pre-processing: anonymized resumes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In-processing: fairness-aware scoring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Post-processing: audit before shortlisting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76908" y="365760"/>
            <a:ext cx="72378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Connection to Smart Hiring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Integration Ideas: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Introduce Career Consistency Index (CCI) to assess job stability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Ethically integrate LinkedIn API data for skill and work validation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Apply Equal Opportunity metric for shortlisting fairness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Use IBM AIF360 toolkit for fairness auditing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Key Quote: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"Fairness in hiring is not a one-time calibration but a continuous governance process." – Fabris et al.,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58935" y="274320"/>
            <a:ext cx="50738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 u="sng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(Paper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Title: Amazon Scraps AI Recruiting Tool That Showed Bias Against Women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Authors: Reuters News Report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Publication: News / Online Coverage (2018)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Internal AI recruiting tool analyzed resumes but penalized resumes containing gender-related terms. Model biased against female candidates, leading to scrapping of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Steps: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Data Collection &amp; Training: Historical Amazon resumes used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Feature Extraction: System learned patterns from resumes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Scoring: Candidates ranked based on similarity to past hires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Bias Detection: Penalized words like 'women's' colleges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46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Biased Training Data: Male-dominated patterns reinforced bias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Spurious Correlations: Terms became unfair negative signals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Debiasing Challenges: Bias persisted in hidden forms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Scalability Issues: Couldn't guarantee fairness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58935" y="274320"/>
            <a:ext cx="50738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 u="sng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(Paper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Title: Algorithmic Transparency Reports for Hiring Systems: Survey and Proposal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Authors: Langenkamp, Costa, Cheung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Publication: Journal / Preprint (Policy &amp; Technology) (2020)</a:t>
            </a:r>
          </a:p>
          <a:p>
            <a:pPr>
              <a:spcBef>
                <a:spcPts val="800"/>
              </a:spcBef>
              <a:defRPr sz="16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Conducted surveys and proposed Algorithmic Transparency Reports to document hiring system decisions. Explored legal pathways for transparency.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Steps: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Review hiring algorithms and cases of bias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Propose Algorithmic Transparency Reports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Link proposal with laws (EEOC, trade secrets)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◇ Assess impact on fairness and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77295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464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Conflict with trade secrets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Hard to enforce and audit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Transparency ≠ guaranteed fairness</a:t>
            </a:r>
          </a:p>
          <a:p>
            <a:pPr>
              <a:spcBef>
                <a:spcPts val="400"/>
              </a:spcBef>
              <a:defRPr sz="14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✗ Compliance burden for firms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7788" y="6492240"/>
            <a:ext cx="4122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01328" y="365760"/>
            <a:ext cx="67890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Motivation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Challenges in Traditional Hiring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Bias in Evaluation – Gender, race, or name-based discrimination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Time-Consuming – Manual screening of thousands of resumes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Inconsistent Assessments – Subjective judgments across interviewers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Poor Candidate Experience – Long processes with little feedback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Limited Transparency – Applicants don't know how decisions are made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Why Change is Needed?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Organizations risk missing top talent due to inefficiencies and bias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Growing demand for fair, data-driven, and efficient recruitment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64768" y="365760"/>
            <a:ext cx="22621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27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Ensure Fairness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Reduce bias in screening, assessment, and selection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Enhance Efficiency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Automate resume parsing, online assessments, and scheduling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Improve Candidate Experience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Provide seamless digital workflows and timely feedback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Promote Transparency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Clear evaluation criteria and audit-friendly reports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Support Data-Driven Decisions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Use analytics to match candidates with roles accurately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Enable Inclusivity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Accessible assessments for diverse backgrounds and 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08288" y="365760"/>
            <a:ext cx="277511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463040"/>
          </a:xfrm>
          <a:prstGeom prst="roundRect">
            <a:avLst/>
          </a:prstGeom>
          <a:solidFill>
            <a:srgbClr val="4682B4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6471" y="182880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Job Posting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&amp; Sourcing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portal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AI-driven sourcing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4780" y="2194560"/>
            <a:ext cx="457200" cy="32004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74720" cy="1463040"/>
          </a:xfrm>
          <a:prstGeom prst="roundRect">
            <a:avLst/>
          </a:prstGeom>
          <a:solidFill>
            <a:srgbClr val="3C78A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26280" y="178308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8391" y="182880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737360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Resume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NLP parsing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Automated shortlisting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09560" y="2217420"/>
            <a:ext cx="457200" cy="32004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21040" y="1645920"/>
            <a:ext cx="3474720" cy="1463040"/>
          </a:xfrm>
          <a:prstGeom prst="roundRect">
            <a:avLst/>
          </a:prstGeom>
          <a:solidFill>
            <a:srgbClr val="326E8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458200" y="178308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20311" y="182880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737360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Assessments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42316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Skill-based, Bias-free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Accessible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3474720" cy="1463040"/>
          </a:xfrm>
          <a:prstGeom prst="roundRect">
            <a:avLst/>
          </a:prstGeom>
          <a:solidFill>
            <a:srgbClr val="4682B4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4360" y="416052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6471" y="420624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Interview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Scheduling &amp;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Structured rubrics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954780" y="4572000"/>
            <a:ext cx="457200" cy="32004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89120" y="4023360"/>
            <a:ext cx="3474720" cy="1463040"/>
          </a:xfrm>
          <a:prstGeom prst="roundRect">
            <a:avLst/>
          </a:prstGeom>
          <a:solidFill>
            <a:srgbClr val="3C78A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526280" y="416052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88391" y="420624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114800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Final Selection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and 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89204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Data-driven ranking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 feedback loop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93818" y="4574623"/>
            <a:ext cx="457200" cy="32004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321040" y="4023360"/>
            <a:ext cx="3474720" cy="1463040"/>
          </a:xfrm>
          <a:prstGeom prst="roundRect">
            <a:avLst/>
          </a:prstGeom>
          <a:solidFill>
            <a:srgbClr val="78AA8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458200" y="4160520"/>
            <a:ext cx="411480" cy="411480"/>
          </a:xfrm>
          <a:prstGeom prst="ellipse">
            <a:avLst/>
          </a:prstGeom>
          <a:solidFill>
            <a:srgbClr val="005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20311" y="420624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11480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19" y="4892040"/>
            <a:ext cx="3108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DCDC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Digital onboarding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HR system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34890" y="365760"/>
            <a:ext cx="51219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2211" y="15087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120577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Job Posting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8800"/>
            <a:ext cx="14638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Recruiter creates job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1783080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71999" y="14630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1250" y="15087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1463040"/>
            <a:ext cx="12698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828800"/>
            <a:ext cx="13580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Candidate signs up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72400" y="1783080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321040" y="14630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0291" y="15087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463040"/>
            <a:ext cx="156966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828800"/>
            <a:ext cx="15552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Upload &amp; Anonymize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829800" y="2606040"/>
            <a:ext cx="365760" cy="45720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32004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2211" y="33375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291840"/>
            <a:ext cx="10294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657600"/>
            <a:ext cx="12410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AI-Assisted 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2004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571999" y="32918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11250" y="33375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3291840"/>
            <a:ext cx="11897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79" y="3657600"/>
            <a:ext cx="12426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Skill-based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2004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321040" y="32918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60291" y="33375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91840"/>
            <a:ext cx="13179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NLP Parsing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657600"/>
            <a:ext cx="11592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371600" y="4389120"/>
            <a:ext cx="365760" cy="45720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1520" y="50292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22960" y="51206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2211" y="51663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5120640"/>
            <a:ext cx="147989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486400"/>
            <a:ext cx="10983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Bias Detection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023360" y="5440680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480559" y="5029200"/>
            <a:ext cx="3200400" cy="1097280"/>
          </a:xfrm>
          <a:prstGeom prst="roundRect">
            <a:avLst/>
          </a:prstGeom>
          <a:solidFill>
            <a:srgbClr val="3C3C41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571999" y="51206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11250" y="51663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79" y="5120640"/>
            <a:ext cx="12137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Shortlisting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79" y="5486400"/>
            <a:ext cx="138050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Ranked Candidates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772400" y="5440680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229600" y="5029200"/>
            <a:ext cx="3200400" cy="1097280"/>
          </a:xfrm>
          <a:prstGeom prst="roundRect">
            <a:avLst/>
          </a:prstGeom>
          <a:solidFill>
            <a:srgbClr val="009600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8321040" y="5120640"/>
            <a:ext cx="365760" cy="36576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60291" y="5166360"/>
            <a:ext cx="2872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1E20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120640"/>
            <a:ext cx="12570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486400"/>
            <a:ext cx="11160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Final Selection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13/21</a:t>
            </a:r>
          </a:p>
        </p:txBody>
      </p:sp>
      <p:sp>
        <p:nvSpPr>
          <p:cNvPr id="57" name="Right Arrow 15">
            <a:extLst>
              <a:ext uri="{FF2B5EF4-FFF2-40B4-BE49-F238E27FC236}">
                <a16:creationId xmlns:a16="http://schemas.microsoft.com/office/drawing/2014/main" id="{8C84A8FA-1B65-266A-4D01-ED25F2516C2A}"/>
              </a:ext>
            </a:extLst>
          </p:cNvPr>
          <p:cNvSpPr/>
          <p:nvPr/>
        </p:nvSpPr>
        <p:spPr>
          <a:xfrm rot="10800000">
            <a:off x="7726679" y="3625371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ight Arrow 15">
            <a:extLst>
              <a:ext uri="{FF2B5EF4-FFF2-40B4-BE49-F238E27FC236}">
                <a16:creationId xmlns:a16="http://schemas.microsoft.com/office/drawing/2014/main" id="{98BAA134-0AE6-5267-024E-895AE77578F1}"/>
              </a:ext>
            </a:extLst>
          </p:cNvPr>
          <p:cNvSpPr/>
          <p:nvPr/>
        </p:nvSpPr>
        <p:spPr>
          <a:xfrm rot="10800000">
            <a:off x="3993184" y="3625371"/>
            <a:ext cx="457200" cy="274320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6091" y="365760"/>
            <a:ext cx="383951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741456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3035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Frontend: React.js, HTML, CSS, JavaScript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Backend: Python Flask/FastAPI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Database: MongoDB (or MySQL/PostgreSQL)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API: RESTful with JWT Auth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Deployment: Docker, Railway/Render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502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177484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AI/ML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035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NLP: spaCy, NLTK, BERT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ML: scikit-learn, pandas, numpy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Fairness: AIF360 / Custom Engine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Resume Parsing: PyPDF2, python-docx</a:t>
            </a:r>
          </a:p>
          <a:p>
            <a:pPr>
              <a:spcBef>
                <a:spcPts val="1000"/>
              </a:spcBef>
              <a:defRPr sz="17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◇ Tools: Git/GitHub, VS Code, Postman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4794" y="182880"/>
            <a:ext cx="41821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777240"/>
            <a:ext cx="4876495" cy="228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7295" cy="1051560"/>
          </a:xfrm>
          <a:prstGeom prst="roundRect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22781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2685" y="1481328"/>
            <a:ext cx="13179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Candidate Portal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10735" y="1481328"/>
            <a:ext cx="15797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Recruiter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67581" y="1481328"/>
            <a:ext cx="10438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Admin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417320"/>
            <a:ext cx="2560320" cy="5029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7003" y="1481328"/>
            <a:ext cx="13628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Audit UI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69280" y="210312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11277295" cy="105156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20880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4326" y="2944368"/>
            <a:ext cx="12747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36608" y="2944368"/>
            <a:ext cx="15279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37124" y="2944368"/>
            <a:ext cx="11047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880360"/>
            <a:ext cx="2560320" cy="5029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79558" y="2944368"/>
            <a:ext cx="11977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CORS Handler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669280" y="356616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11277295" cy="105156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3977639"/>
            <a:ext cx="1659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36772" y="4407408"/>
            <a:ext cx="92685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NLP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64842" y="4407408"/>
            <a:ext cx="115127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69856" y="4407408"/>
            <a:ext cx="122180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Matching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12728" y="4407408"/>
            <a:ext cx="101662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343400"/>
            <a:ext cx="2103120" cy="502920"/>
          </a:xfrm>
          <a:prstGeom prst="roundRect">
            <a:avLst/>
          </a:prstGeom>
          <a:solidFill>
            <a:srgbClr val="9B59B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187660" y="4407408"/>
            <a:ext cx="7473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669280" y="5029200"/>
            <a:ext cx="822960" cy="32004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5394960"/>
            <a:ext cx="11277295" cy="1051560"/>
          </a:xfrm>
          <a:prstGeom prst="roundRect">
            <a:avLst/>
          </a:prstGeom>
          <a:solidFill>
            <a:srgbClr val="E67E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131625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LAYER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96154" y="5779008"/>
            <a:ext cx="10310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🗄️ MongoDB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4326" y="5989320"/>
            <a:ext cx="12747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Documents &amp; Resumes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39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426939" y="5779008"/>
            <a:ext cx="7473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⚡ Redis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1485" y="5989320"/>
            <a:ext cx="101822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Cache &amp; Sessions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59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22697" y="5779008"/>
            <a:ext cx="11336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📁 File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84600" y="5989320"/>
            <a:ext cx="80983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Resume Files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98280" y="5760720"/>
            <a:ext cx="2560320" cy="548640"/>
          </a:xfrm>
          <a:prstGeom prst="roundRect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838068" y="5779008"/>
            <a:ext cx="10807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📋 Audit Logs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80547" y="5989320"/>
            <a:ext cx="99578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DC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Compliance Trail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97213" y="1463040"/>
            <a:ext cx="8899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HTML/CSS/JS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96599" y="2926080"/>
            <a:ext cx="7906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 Flask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6981" y="4389120"/>
            <a:ext cx="80021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spaCy/BERT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22861" y="5852160"/>
            <a:ext cx="86433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NoSQL/Cache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42529" y="365760"/>
            <a:ext cx="55066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&amp; Bias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38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Implemented Fairness Metrics: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Demographic Parity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Selection rate equality across groups (Diff &lt; 0.1)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Disparate Impact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Ratio of selection rates ≥ 0.8 (80% Rule - EEOC 1978)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Equal Opportunity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TPR equality across groups (Hardt et al. 2016)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Equalized Odds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TPR + FPR equality across groups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Theil Index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Entropy-based inequality measure &lt; 0.2</a:t>
            </a:r>
          </a:p>
          <a:p>
            <a:pPr>
              <a:spcBef>
                <a:spcPts val="1200"/>
              </a:spcBef>
              <a:defRPr sz="20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→ Implementation: Custom NumPy/Pandas engine (no AIF360 dependency for cloud)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2024" y="365760"/>
            <a:ext cx="73276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 Interviewer – Definition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272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Definition: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 structured, AI-assisted interview orchestration system that selects, presents, and evaluates predefined domain-specific questions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Key Features: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Uses curated question banks (100+ questions across 10+ skill categories)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Questions ordered: basic → intermediate → advanced (same for all candidates)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Keyword relevance scoring against expected concepts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What it is NOT: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NOT generative AI – does not create new questions dynamically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NOT adaptive per resume – ensures fairness through standardization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NOT emotion/personality analysis – text-based evaluation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52898" y="365760"/>
            <a:ext cx="46858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7295" cy="621792"/>
          </a:xfrm>
          <a:prstGeom prst="rect">
            <a:avLst/>
          </a:prstGeom>
          <a:solidFill>
            <a:srgbClr val="46464B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08760"/>
            <a:ext cx="73289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08760"/>
            <a:ext cx="11805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11277295" cy="621792"/>
          </a:xfrm>
          <a:prstGeom prst="rect">
            <a:avLst/>
          </a:prstGeom>
          <a:solidFill>
            <a:srgbClr val="303034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25667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Core ATS (Jobs, Applications)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30552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30552"/>
            <a:ext cx="152157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Flask, MongoDB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15184"/>
            <a:ext cx="11277295" cy="621792"/>
          </a:xfrm>
          <a:prstGeom prst="rect">
            <a:avLst/>
          </a:prstGeom>
          <a:solidFill>
            <a:srgbClr val="37373A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752344"/>
            <a:ext cx="253787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Resume Parser &amp; Anonymizer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52344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52344"/>
            <a:ext cx="19258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PyPDF2, spaCy, regex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36976"/>
            <a:ext cx="11277295" cy="621792"/>
          </a:xfrm>
          <a:prstGeom prst="rect">
            <a:avLst/>
          </a:prstGeom>
          <a:solidFill>
            <a:srgbClr val="303034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374136"/>
            <a:ext cx="18181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Interview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74136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74136"/>
            <a:ext cx="223170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Rule-based + NLP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58768"/>
            <a:ext cx="11277295" cy="621792"/>
          </a:xfrm>
          <a:prstGeom prst="rect">
            <a:avLst/>
          </a:prstGeom>
          <a:solidFill>
            <a:srgbClr val="37373A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995928"/>
            <a:ext cx="184858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ML Matching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995928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995928"/>
            <a:ext cx="210057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TF-IDF, Sentence-BERT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11277295" cy="621792"/>
          </a:xfrm>
          <a:prstGeom prst="rect">
            <a:avLst/>
          </a:prstGeom>
          <a:solidFill>
            <a:srgbClr val="303034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241123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Fairness Engine (9+ metrics)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617720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617720"/>
            <a:ext cx="21451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 (custom)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02352"/>
            <a:ext cx="11277295" cy="621792"/>
          </a:xfrm>
          <a:prstGeom prst="rect">
            <a:avLst/>
          </a:prstGeom>
          <a:solidFill>
            <a:srgbClr val="37373A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239512"/>
            <a:ext cx="167385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GDPR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239512"/>
            <a:ext cx="124264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✅ 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39512"/>
            <a:ext cx="228517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Export, Delete, Anonymize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724144"/>
            <a:ext cx="11277295" cy="621792"/>
          </a:xfrm>
          <a:prstGeom prst="rect">
            <a:avLst/>
          </a:prstGeom>
          <a:solidFill>
            <a:srgbClr val="303034"/>
          </a:solidFill>
          <a:ln w="12700"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861304"/>
            <a:ext cx="197201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Video/Audio Interview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861304"/>
            <a:ext cx="99899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🔮 Future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861304"/>
            <a:ext cx="171713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Planned for Phase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89052" y="365760"/>
            <a:ext cx="281359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472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Video Interview Recording (Phase 2)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Record candidate video responses for recruiter review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No automated video analysis planned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Speech-to-Text Transcription (Phase 2)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Convert audio responses to text for keyword scoring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Enhanced Semantic Scoring (Phase 3)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Fine-tuned domain-specific language models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Multi-Language Support (Phase 3)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Hindi, Telugu resume parsing and localized question banks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◆ LinkedIn API Integration (Phase 3)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    ◇ Profile import for candidate convenience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00648" y="365760"/>
            <a:ext cx="23903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72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Achievements: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Developed a production-ready, bias-aware Applicant Tracking System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Implemented AI-assisted structured interview module with predefined question banks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Created custom fairness engine with 9+ metrics (cloud-compatible)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Achieved end-to-end automation with optional human oversight</a:t>
            </a:r>
          </a:p>
          <a:p>
            <a:pPr>
              <a:spcBef>
                <a:spcPts val="1600"/>
              </a:spcBef>
              <a:defRPr sz="2200" b="1">
                <a:solidFill>
                  <a:srgbClr val="D4AF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◆ Current Status: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 All core modules implemented and tested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Fairness engine operational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System ready for deployment and academic evaluation</a:t>
            </a:r>
          </a:p>
          <a:p>
            <a:pPr>
              <a:spcBef>
                <a:spcPts val="600"/>
              </a:spcBef>
              <a:defRPr sz="1800" i="1">
                <a:solidFill>
                  <a:srgbClr val="C8C8C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◇ Ready for Review-2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85340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27598" y="2560320"/>
            <a:ext cx="453649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18195" y="3931920"/>
            <a:ext cx="415530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D4AF3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754880"/>
            <a:ext cx="85340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5793" y="5486400"/>
            <a:ext cx="20201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rPr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 Hiring System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3668" y="6492240"/>
            <a:ext cx="47641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1760</Words>
  <Application>Microsoft Office PowerPoint</Application>
  <PresentationFormat>Widescreen</PresentationFormat>
  <Paragraphs>321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22VV1A0555 .</cp:lastModifiedBy>
  <cp:revision>4</cp:revision>
  <dcterms:created xsi:type="dcterms:W3CDTF">2013-01-27T09:14:16Z</dcterms:created>
  <dcterms:modified xsi:type="dcterms:W3CDTF">2026-01-12T07:23:54Z</dcterms:modified>
  <cp:category/>
</cp:coreProperties>
</file>