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103120"/>
            <a:ext cx="116430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Times New Roman" a:typeface="Times New Roman"/>
              </a:rPr>
              <a:t>Smart Hiring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291840"/>
            <a:ext cx="116430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1">
                <a:solidFill>
                  <a:srgbClr val="C3C3C3"/>
                </a:solidFill>
                <a:latin typeface="Times New Roman" a:typeface="Times New Roman"/>
              </a:rPr>
              <a:t>AI-Assisted Bias-Aware Recruitment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A0A0A0"/>
                </a:solidFill>
                <a:latin typeface="Times New Roman" a:typeface="Times New Roman"/>
              </a:rPr>
              <a:t>Review 2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76072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A0A0A0"/>
                </a:solidFill>
                <a:latin typeface="Times New Roman" a:typeface="Times New Roman"/>
              </a:rPr>
              <a:t>Team: [Names] | Guide: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Recruitment is a critical process in every organization but is often prone to unconscious bias.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A technology-driven approach to streamline recruitment from job posting to onboarding.</a:t>
            </a:r>
          </a:p>
          <a:p>
            <a:pPr>
              <a:spcBef>
                <a:spcPts val="1400"/>
              </a:spcBef>
            </a:pPr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◆ Integrates AI, automation, and data analytics to reduce bias, improve efficiency, and ensure better candidate-job matching.</a:t>
            </a:r>
          </a:p>
          <a:p>
            <a:pPr>
              <a:spcBef>
                <a:spcPts val="1400"/>
              </a:spcBef>
            </a:pPr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◆ Traditional hiring is often time-consuming, costly, and biased.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Smart Hiring enables: Faster candidate screening with AI-powered resume parsing. Fair evaluations through algorithmic transparency and bias reduction. Data-driven decisions for improved talent acquisition.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 u="sng">
                <a:solidFill>
                  <a:srgbClr val="FFFFFF"/>
                </a:solidFill>
                <a:latin typeface="Times New Roman" a:typeface="Times New Roman"/>
              </a:rPr>
              <a:t>Base Paper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◆ Title: Fairness and Bias in Algorithmic Hiring: A Multidisciplinary Survey (Fabris et al., 2025)</a:t>
            </a:r>
          </a:p>
          <a:p>
            <a:pPr>
              <a:spcBef>
                <a:spcPts val="14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◆ Source: https://arxiv.org/pdf/2309.13933</a:t>
            </a:r>
          </a:p>
          <a:p>
            <a:pPr>
              <a:spcBef>
                <a:spcPts val="14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◆ Purpose: Understand how AI in hiring remains fair, transparent, and bias-free.</a:t>
            </a:r>
          </a:p>
          <a:p>
            <a:pPr>
              <a:spcBef>
                <a:spcPts val="14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❑ Highlights:</a:t>
            </a:r>
          </a:p>
          <a:p>
            <a:pPr>
              <a:spcBef>
                <a:spcPts val="8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     → Covers the recruitment pipeline end-to-end.</a:t>
            </a:r>
          </a:p>
          <a:p>
            <a:pPr>
              <a:spcBef>
                <a:spcPts val="8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     → Reviews bias sources, fairness metrics, and mitigation methods.</a:t>
            </a:r>
          </a:p>
          <a:p>
            <a:pPr>
              <a:spcBef>
                <a:spcPts val="8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     → Framework for ethical and accountable AI hiring.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Sources of Bias (Section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600" b="0" i="1">
                <a:solidFill>
                  <a:srgbClr val="C3C3C3"/>
                </a:solidFill>
                <a:latin typeface="Times New Roman" a:typeface="Times New Roman"/>
              </a:rPr>
              <a:t>◆ Bias arises from multiple levels in hiring systems:</a:t>
            </a:r>
          </a:p>
          <a:p>
            <a:pPr>
              <a:spcBef>
                <a:spcPts val="1400"/>
              </a:spcBef>
            </a:pPr>
            <a:r>
              <a:rPr sz="2600" b="1" i="0">
                <a:solidFill>
                  <a:srgbClr val="C3C3C3"/>
                </a:solidFill>
                <a:latin typeface="Times New Roman" a:typeface="Times New Roman"/>
              </a:rPr>
              <a:t>◆ Institutional Bias – Historical hiring patterns favour certain groups.</a:t>
            </a:r>
          </a:p>
          <a:p>
            <a:pPr>
              <a:spcBef>
                <a:spcPts val="1400"/>
              </a:spcBef>
            </a:pPr>
            <a:r>
              <a:rPr sz="2600" b="1" i="0">
                <a:solidFill>
                  <a:srgbClr val="C3C3C3"/>
                </a:solidFill>
                <a:latin typeface="Times New Roman" a:typeface="Times New Roman"/>
              </a:rPr>
              <a:t>◆ Individual Bias – Recruiter's subjective patterns and preferences.</a:t>
            </a:r>
          </a:p>
          <a:p>
            <a:pPr>
              <a:spcBef>
                <a:spcPts val="1400"/>
              </a:spcBef>
            </a:pPr>
            <a:r>
              <a:rPr sz="2600" b="1" i="0">
                <a:solidFill>
                  <a:srgbClr val="C3C3C3"/>
                </a:solidFill>
                <a:latin typeface="Times New Roman" a:typeface="Times New Roman"/>
              </a:rPr>
              <a:t>◆ Technological Bias – Model design and feature selection issues.</a:t>
            </a:r>
          </a:p>
          <a:p>
            <a:pPr>
              <a:spcBef>
                <a:spcPts val="1400"/>
              </a:spcBef>
            </a:pPr>
            <a:r>
              <a:rPr sz="2600" b="1" i="0">
                <a:solidFill>
                  <a:srgbClr val="C3C3C3"/>
                </a:solidFill>
                <a:latin typeface="Times New Roman" a:typeface="Times New Roman"/>
              </a:rPr>
              <a:t>◆ Key Takeaway: Bias is socio-technical (data + algorithm + process).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Fairness Metrics &amp; Measures (Section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❑ Common Fairness Concepts: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Outcome Fairness: Equal selection chances across demographic groups.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Accuracy Fairness: Equal error rates for different groups.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Representational Fairness: Avoid stereotypes in candidate representation.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Impact Fairness: Equal long-term benefits (role fit, salary, growth).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Choose measurable metrics like Demographic Parity or Equal Opportunity.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Mitigation Approaches (Section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❑ Fairness Interventions Across the Pipeline:</a:t>
            </a:r>
          </a:p>
          <a:p>
            <a:pPr>
              <a:spcBef>
                <a:spcPts val="14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Pre-Processing – Modify data (remove names, rebalance datasets).</a:t>
            </a:r>
          </a:p>
          <a:p>
            <a:pPr>
              <a:spcBef>
                <a:spcPts val="14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In-Processing – Train models with fairness constraints (adversarial debiasing).</a:t>
            </a:r>
          </a:p>
          <a:p>
            <a:pPr>
              <a:spcBef>
                <a:spcPts val="14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Post-Processing – Adjust rankings or outputs to ensure fairness.</a:t>
            </a:r>
          </a:p>
          <a:p>
            <a:pPr>
              <a:spcBef>
                <a:spcPts val="14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◆ Challenges: Fairness-accuracy trade-off, need for domain-specific auditing.</a:t>
            </a:r>
          </a:p>
          <a:p>
            <a:pPr>
              <a:spcBef>
                <a:spcPts val="14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Example for Smart Hiring:</a:t>
            </a:r>
          </a:p>
          <a:p>
            <a:pPr>
              <a:spcBef>
                <a:spcPts val="8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     → Pre-processing: anonymized resumes.</a:t>
            </a:r>
          </a:p>
          <a:p>
            <a:pPr>
              <a:spcBef>
                <a:spcPts val="8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     → In-processing: fairness-aware scoring.</a:t>
            </a:r>
          </a:p>
          <a:p>
            <a:pPr>
              <a:spcBef>
                <a:spcPts val="8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     → Post-processing: audit before shortlisting.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Connection to Smart Hiring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❑ Integration Ideas: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Introduce Career Consistency Index (CCI) to assess job stability.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Ethically integrate LinkedIn API data for skill and work validation.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Apply Equal Opportunity metric for shortlisting fairness.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Use IBM AIF360 toolkit for fairness auditing.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◆ Quote: "Fairness in hiring is not a one-time calibration but a continuous governance process." – Fabris et al.,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 u="sng">
                <a:solidFill>
                  <a:srgbClr val="FFFFFF"/>
                </a:solidFill>
                <a:latin typeface="Times New Roman" a:typeface="Times New Roman"/>
              </a:rPr>
              <a:t>Literature Survey (Paper 1):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6430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Times New Roman" a:typeface="Times New Roman"/>
              </a:rPr>
              <a:t>1.</a:t>
            </a: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Title: </a:t>
            </a:r>
            <a:r>
              <a:rPr sz="2200" b="0" i="0">
                <a:solidFill>
                  <a:srgbClr val="C3C3C3"/>
                </a:solidFill>
                <a:latin typeface="Times New Roman" a:typeface="Times New Roman"/>
              </a:rPr>
              <a:t>Amazon Scraps AI Recruiting Tool That Showed Bias Against Women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Times New Roman" a:typeface="Times New Roman"/>
              </a:rPr>
              <a:t>2.</a:t>
            </a: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Authors: </a:t>
            </a:r>
            <a:r>
              <a:rPr sz="2200" b="0" i="0">
                <a:solidFill>
                  <a:srgbClr val="C3C3C3"/>
                </a:solidFill>
                <a:latin typeface="Times New Roman" a:typeface="Times New Roman"/>
              </a:rPr>
              <a:t>Reuters News Report (2018)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Times New Roman" a:typeface="Times New Roman"/>
              </a:rPr>
              <a:t>3.</a:t>
            </a: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Publication Medium: </a:t>
            </a:r>
            <a:r>
              <a:rPr sz="2200" b="0" i="0">
                <a:solidFill>
                  <a:srgbClr val="C3C3C3"/>
                </a:solidFill>
                <a:latin typeface="Times New Roman" a:typeface="Times New Roman"/>
              </a:rPr>
              <a:t>News / Online Coverage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Times New Roman" a:typeface="Times New Roman"/>
              </a:rPr>
              <a:t>4.</a:t>
            </a: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Publication Date: </a:t>
            </a:r>
            <a:r>
              <a:rPr sz="2200" b="0" i="0">
                <a:solidFill>
                  <a:srgbClr val="C3C3C3"/>
                </a:solidFill>
                <a:latin typeface="Times New Roman" a:typeface="Times New Roman"/>
              </a:rPr>
              <a:t>2018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Times New Roman" a:typeface="Times New Roman"/>
              </a:rPr>
              <a:t>5.</a:t>
            </a: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Methodology: </a:t>
            </a:r>
            <a:r>
              <a:rPr sz="2200" b="0" i="0">
                <a:solidFill>
                  <a:srgbClr val="C3C3C3"/>
                </a:solidFill>
                <a:latin typeface="Times New Roman" a:typeface="Times New Roman"/>
              </a:rPr>
              <a:t>Internal AI recruiting tool analyzed resumes but penalized resumes containing gender-related terms such as "women's." Model biased against female candidates, leading to scrapping of the project. Demonstrates risks of algorithmic bias in recruitment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Paper 1 - Steps, Tools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643055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 a:typeface="Times New Roman"/>
              </a:rPr>
              <a:t>Steps: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Data Collection &amp; Training: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Historical Amazon resumes and hiring data used to train the AI.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Feature Extraction: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System learned patterns from resumes (skills, keywords, institutions).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Scoring: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Candidates ranked based on similarity to past successful hires.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Bias Detection: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System penalized resumes with words like "women's" or all-women's colleges.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Abandonment: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After unsuccessful attempts to fix bias, Amazon scrapped the tool.</a:t>
            </a:r>
          </a:p>
          <a:p>
            <a:pPr>
              <a:spcBef>
                <a:spcPts val="1200"/>
              </a:spcBef>
            </a:pPr>
            <a:r>
              <a:rPr sz="2000" b="1" i="0">
                <a:solidFill>
                  <a:srgbClr val="FFFFFF"/>
                </a:solidFill>
                <a:latin typeface="Times New Roman" a:typeface="Times New Roman"/>
              </a:rPr>
              <a:t>Tools: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Machine Learning Models: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Internal AI recruitment system trained on historical data.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Data Sources: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Amazon's past resumes and hiring outcomes.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Evaluation Metrics: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Recruitment efficiency, candidate ranking accuracy.</a:t>
            </a:r>
          </a:p>
          <a:p>
            <a:pPr>
              <a:spcBef>
                <a:spcPts val="1200"/>
              </a:spcBef>
            </a:pPr>
            <a:r>
              <a:rPr sz="2000" b="1" i="0">
                <a:solidFill>
                  <a:srgbClr val="FFFFFF"/>
                </a:solidFill>
                <a:latin typeface="Times New Roman" a:typeface="Times New Roman"/>
              </a:rPr>
              <a:t>Limitations: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Biased Training Data: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Male-dominated historical hiring patterns reinforced gender bias.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Spurious Correlations: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Terms like "women's" became unfair negative signals.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Debiasing Challenges: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Even after tweaks, bias persisted in hidden forms.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3C3C3"/>
                </a:solidFill>
                <a:latin typeface="Times New Roman" a:typeface="Times New Roman"/>
              </a:rPr>
              <a:t>◆ Scalability Issues: </a:t>
            </a:r>
            <a:r>
              <a:rPr sz="1600" b="0" i="1">
                <a:solidFill>
                  <a:srgbClr val="C3C3C3"/>
                </a:solidFill>
                <a:latin typeface="Times New Roman" a:typeface="Times New Roman"/>
              </a:rPr>
              <a:t>Couldn't guarantee fairness across all candidate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 u="sng">
                <a:solidFill>
                  <a:srgbClr val="FFFFFF"/>
                </a:solidFill>
                <a:latin typeface="Times New Roman" a:typeface="Times New Roman"/>
              </a:rPr>
              <a:t>Literature Survey (Paper 2):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6430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Times New Roman" a:typeface="Times New Roman"/>
              </a:rPr>
              <a:t>1.</a:t>
            </a: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Title: </a:t>
            </a:r>
            <a:r>
              <a:rPr sz="2200" b="0" i="0">
                <a:solidFill>
                  <a:srgbClr val="C3C3C3"/>
                </a:solidFill>
                <a:latin typeface="Times New Roman" a:typeface="Times New Roman"/>
              </a:rPr>
              <a:t>Algorithmic Transparency Reports for Hiring Systems: Survey and Proposal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Times New Roman" a:typeface="Times New Roman"/>
              </a:rPr>
              <a:t>2.</a:t>
            </a: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Authors: </a:t>
            </a:r>
            <a:r>
              <a:rPr sz="2200" b="0" i="0">
                <a:solidFill>
                  <a:srgbClr val="C3C3C3"/>
                </a:solidFill>
                <a:latin typeface="Times New Roman" a:typeface="Times New Roman"/>
              </a:rPr>
              <a:t>Langenkamp, Costa, Cheung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Times New Roman" a:typeface="Times New Roman"/>
              </a:rPr>
              <a:t>3.</a:t>
            </a: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Publication Medium: </a:t>
            </a:r>
            <a:r>
              <a:rPr sz="2200" b="0" i="0">
                <a:solidFill>
                  <a:srgbClr val="C3C3C3"/>
                </a:solidFill>
                <a:latin typeface="Times New Roman" a:typeface="Times New Roman"/>
              </a:rPr>
              <a:t>Journal / Preprint (Policy &amp; Technology)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Times New Roman" a:typeface="Times New Roman"/>
              </a:rPr>
              <a:t>4.</a:t>
            </a: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Publication Date: </a:t>
            </a:r>
            <a:r>
              <a:rPr sz="2200" b="0" i="0">
                <a:solidFill>
                  <a:srgbClr val="C3C3C3"/>
                </a:solidFill>
                <a:latin typeface="Times New Roman" a:typeface="Times New Roman"/>
              </a:rPr>
              <a:t>2020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Times New Roman" a:typeface="Times New Roman"/>
              </a:rPr>
              <a:t>5.</a:t>
            </a: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Methodology: </a:t>
            </a:r>
            <a:r>
              <a:rPr sz="2200" b="0" i="0">
                <a:solidFill>
                  <a:srgbClr val="C3C3C3"/>
                </a:solidFill>
                <a:latin typeface="Times New Roman" a:typeface="Times New Roman"/>
              </a:rPr>
              <a:t>Conducted surveys and proposed Algorithmic Transparency Reports to document hiring system decisions. Explored legal and regulatory pathways for promoting transparency and fairness in algorithmic hiring.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6430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❑ Challenges in Traditional Hiring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  ➤ Bias in Evaluation – Gender, race, or name-based discrimination.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  ➤ Time-Consuming – Manual screening of thousands of resumes.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  ➤ Inconsistent Assessments – Subjective judgments across interviewers.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  ➤ Poor Candidate Experience – Long processes with little feedback.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  ➤ Limited Transparency – Applicants don't know how decisions are made.</a:t>
            </a:r>
          </a:p>
          <a:p>
            <a:pPr>
              <a:spcBef>
                <a:spcPts val="1600"/>
              </a:spcBef>
            </a:pPr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❖ Why Change is Needed?</a:t>
            </a:r>
          </a:p>
          <a:p>
            <a:pPr>
              <a:spcBef>
                <a:spcPts val="8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Organizations risk missing top talent due to inefficiencies and bias.</a:t>
            </a:r>
          </a:p>
          <a:p>
            <a:pPr>
              <a:spcBef>
                <a:spcPts val="8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Growing demand for fair, data-driven, and efficient recruitment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6430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◆  Ensure Fairness</a:t>
            </a:r>
          </a:p>
          <a:p>
            <a:pPr>
              <a:spcBef>
                <a:spcPts val="400"/>
              </a:spcBef>
            </a:pPr>
            <a:r>
              <a:rPr sz="2200" b="0" i="1">
                <a:solidFill>
                  <a:srgbClr val="A0A0A0"/>
                </a:solidFill>
                <a:latin typeface="Times New Roman" a:typeface="Times New Roman"/>
              </a:rPr>
              <a:t>◆ Reduce bias in screening, assessment, and selection.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◆  Enhance Efficiency</a:t>
            </a:r>
          </a:p>
          <a:p>
            <a:pPr>
              <a:spcBef>
                <a:spcPts val="400"/>
              </a:spcBef>
            </a:pPr>
            <a:r>
              <a:rPr sz="2200" b="0" i="1">
                <a:solidFill>
                  <a:srgbClr val="A0A0A0"/>
                </a:solidFill>
                <a:latin typeface="Times New Roman" a:typeface="Times New Roman"/>
              </a:rPr>
              <a:t>◆ Automate resume parsing, online assessments, and scheduling.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◆  Improve Candidate Experience</a:t>
            </a:r>
          </a:p>
          <a:p>
            <a:pPr>
              <a:spcBef>
                <a:spcPts val="400"/>
              </a:spcBef>
            </a:pPr>
            <a:r>
              <a:rPr sz="2200" b="0" i="1">
                <a:solidFill>
                  <a:srgbClr val="A0A0A0"/>
                </a:solidFill>
                <a:latin typeface="Times New Roman" a:typeface="Times New Roman"/>
              </a:rPr>
              <a:t>◆ Provide seamless digital workflows and timely feedback.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◆  Promote Transparency</a:t>
            </a:r>
          </a:p>
          <a:p>
            <a:pPr>
              <a:spcBef>
                <a:spcPts val="400"/>
              </a:spcBef>
            </a:pPr>
            <a:r>
              <a:rPr sz="2200" b="0" i="1">
                <a:solidFill>
                  <a:srgbClr val="A0A0A0"/>
                </a:solidFill>
                <a:latin typeface="Times New Roman" a:typeface="Times New Roman"/>
              </a:rPr>
              <a:t>◆ Clear evaluation criteria and audit-friendly reports.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◆  Support Data-Driven Decisions</a:t>
            </a:r>
          </a:p>
          <a:p>
            <a:pPr>
              <a:spcBef>
                <a:spcPts val="400"/>
              </a:spcBef>
            </a:pPr>
            <a:r>
              <a:rPr sz="2200" b="0" i="1">
                <a:solidFill>
                  <a:srgbClr val="A0A0A0"/>
                </a:solidFill>
                <a:latin typeface="Times New Roman" a:typeface="Times New Roman"/>
              </a:rPr>
              <a:t>◆ Use analytics to match candidates with roles accurately.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C3C3C3"/>
                </a:solidFill>
                <a:latin typeface="Times New Roman" a:typeface="Times New Roman"/>
              </a:rPr>
              <a:t>◆  Enable Inclusivity</a:t>
            </a:r>
          </a:p>
          <a:p>
            <a:pPr>
              <a:spcBef>
                <a:spcPts val="400"/>
              </a:spcBef>
            </a:pPr>
            <a:r>
              <a:rPr sz="2200" b="0" i="1">
                <a:solidFill>
                  <a:srgbClr val="A0A0A0"/>
                </a:solidFill>
                <a:latin typeface="Times New Roman" a:typeface="Times New Roman"/>
              </a:rPr>
              <a:t>◆ Accessible assessments for diverse backgrounds and abilities.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3291840" cy="1463040"/>
          </a:xfrm>
          <a:prstGeom prst="roundRect">
            <a:avLst/>
          </a:prstGeom>
          <a:solidFill>
            <a:srgbClr val="649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965960"/>
            <a:ext cx="411480" cy="411480"/>
          </a:xfrm>
          <a:prstGeom prst="ellipse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a: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E1E"/>
                </a:solidFill>
                <a:latin typeface="Times New Roman" a:typeface="Times New Roman"/>
              </a:rPr>
              <a:t>Job Posting
&amp; Sourcing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82828"/>
                </a:solidFill>
                <a:latin typeface="Times New Roman" a:typeface="Times New Roman"/>
              </a:rPr>
              <a:t>Centralized portal
AI-driven sourcing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291840" cy="1463040"/>
          </a:xfrm>
          <a:prstGeom prst="roundRect">
            <a:avLst/>
          </a:prstGeom>
          <a:solidFill>
            <a:srgbClr val="82A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0" y="1965960"/>
            <a:ext cx="411480" cy="411480"/>
          </a:xfrm>
          <a:prstGeom prst="ellipse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a: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20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E1E"/>
                </a:solidFill>
                <a:latin typeface="Times New Roman" a:typeface="Times New Roman"/>
              </a:rPr>
              <a:t>Resume
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06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82828"/>
                </a:solidFill>
                <a:latin typeface="Times New Roman" a:typeface="Times New Roman"/>
              </a:rPr>
              <a:t>NLP parsing
Automated shortlisting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828800"/>
            <a:ext cx="3291840" cy="1463040"/>
          </a:xfrm>
          <a:prstGeom prst="roundRect">
            <a:avLst/>
          </a:prstGeom>
          <a:solidFill>
            <a:srgbClr val="A0C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41080" y="1965960"/>
            <a:ext cx="411480" cy="411480"/>
          </a:xfrm>
          <a:prstGeom prst="ellipse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a:typeface="Times New Roma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920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E1E"/>
                </a:solidFill>
                <a:latin typeface="Times New Roman" a:typeface="Times New Roman"/>
              </a:rPr>
              <a:t>Online
Assessments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606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82828"/>
                </a:solidFill>
                <a:latin typeface="Times New Roman" a:typeface="Times New Roman"/>
              </a:rPr>
              <a:t>Skill-based, Bias-free
Accessible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89120"/>
            <a:ext cx="3291840" cy="1463040"/>
          </a:xfrm>
          <a:prstGeom prst="roundRect">
            <a:avLst/>
          </a:prstGeom>
          <a:solidFill>
            <a:srgbClr val="649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" y="4526280"/>
            <a:ext cx="411480" cy="411480"/>
          </a:xfrm>
          <a:prstGeom prst="ellipse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a:typeface="Times New Roman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8055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E1E"/>
                </a:solidFill>
                <a:latin typeface="Times New Roman" a:typeface="Times New Roman"/>
              </a:rPr>
              <a:t>Interview
Scheduling &amp;
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5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82828"/>
                </a:solidFill>
                <a:latin typeface="Times New Roman" a:typeface="Times New Roman"/>
              </a:rPr>
              <a:t>Automated scheduling
Structured rubrics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389120"/>
            <a:ext cx="3291840" cy="1463040"/>
          </a:xfrm>
          <a:prstGeom prst="roundRect">
            <a:avLst/>
          </a:prstGeom>
          <a:solidFill>
            <a:srgbClr val="82A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0" y="4526280"/>
            <a:ext cx="411480" cy="411480"/>
          </a:xfrm>
          <a:prstGeom prst="ellipse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a: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48055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E1E"/>
                </a:solidFill>
                <a:latin typeface="Times New Roman" a:typeface="Times New Roman"/>
              </a:rPr>
              <a:t>Final Selection
and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16635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82828"/>
                </a:solidFill>
                <a:latin typeface="Times New Roman" a:typeface="Times New Roman"/>
              </a:rPr>
              <a:t>Data-driven ranking
Fair feedback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4389120"/>
            <a:ext cx="3291840" cy="1463040"/>
          </a:xfrm>
          <a:prstGeom prst="roundRect">
            <a:avLst/>
          </a:prstGeom>
          <a:solidFill>
            <a:srgbClr val="BED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41080" y="4526280"/>
            <a:ext cx="411480" cy="411480"/>
          </a:xfrm>
          <a:prstGeom prst="ellipse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a:typeface="Times New Roman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48055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1E1E"/>
                </a:solidFill>
                <a:latin typeface="Times New Roman" a:typeface="Times New Roman"/>
              </a:rPr>
              <a:t>Onboarding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16635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82828"/>
                </a:solidFill>
                <a:latin typeface="Times New Roman" a:typeface="Times New Roman"/>
              </a:rPr>
              <a:t>Digital onboarding
HR system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23774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C3C3C3"/>
                </a:solidFill>
                <a:latin typeface="Times New Roman" a:typeface="Times New Roman"/>
              </a:rPr>
              <a:t>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774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C3C3C3"/>
                </a:solidFill>
                <a:latin typeface="Times New Roman" a:typeface="Times New Roman"/>
              </a:rPr>
              <a:t>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93776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C3C3C3"/>
                </a:solidFill>
                <a:latin typeface="Times New Roman" a:typeface="Times New Roman"/>
              </a:rPr>
              <a:t>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93776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C3C3C3"/>
                </a:solidFill>
                <a:latin typeface="Times New Roman" a:typeface="Times New Roman"/>
              </a:rPr>
              <a:t>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291840"/>
            <a:ext cx="457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0" i="0">
                <a:solidFill>
                  <a:srgbClr val="B46450"/>
                </a:solidFill>
                <a:latin typeface="Times New Roman" a:typeface="Times New Roman"/>
              </a:rPr>
              <a:t>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SYSTEM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45920"/>
            <a:ext cx="1828800" cy="640080"/>
          </a:xfrm>
          <a:prstGeom prst="ellipse">
            <a:avLst/>
          </a:prstGeom>
          <a:solidFill>
            <a:srgbClr val="6E6E73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a:typeface="Times New Roman"/>
              </a:rPr>
              <a:t>Job Posting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645920"/>
            <a:ext cx="2560320" cy="640080"/>
          </a:xfrm>
          <a:prstGeom prst="roundRect">
            <a:avLst/>
          </a:prstGeom>
          <a:solidFill>
            <a:srgbClr val="6E6E73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a:typeface="Times New Roman"/>
              </a:rPr>
              <a:t>Candidate Registration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3200400" cy="640080"/>
          </a:xfrm>
          <a:prstGeom prst="roundRect">
            <a:avLst/>
          </a:prstGeom>
          <a:solidFill>
            <a:srgbClr val="6E6E73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a:typeface="Times New Roman"/>
              </a:rPr>
              <a:t>Resume Upload &amp; Anonymization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743200"/>
            <a:ext cx="2286000" cy="640080"/>
          </a:xfrm>
          <a:prstGeom prst="roundRect">
            <a:avLst/>
          </a:prstGeom>
          <a:solidFill>
            <a:srgbClr val="6E6E73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a:typeface="Times New Roman"/>
              </a:rPr>
              <a:t>NLP Skill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743200"/>
            <a:ext cx="2743200" cy="640080"/>
          </a:xfrm>
          <a:prstGeom prst="roundRect">
            <a:avLst/>
          </a:prstGeom>
          <a:solidFill>
            <a:srgbClr val="6E6E73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a:typeface="Times New Roman"/>
              </a:rPr>
              <a:t>Candidate Assessments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743200"/>
            <a:ext cx="2560320" cy="640080"/>
          </a:xfrm>
          <a:prstGeom prst="roundRect">
            <a:avLst/>
          </a:prstGeom>
          <a:solidFill>
            <a:srgbClr val="6E6E73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a:typeface="Times New Roman"/>
              </a:rPr>
              <a:t>Interview Scheduling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89120"/>
            <a:ext cx="3200400" cy="822960"/>
          </a:xfrm>
          <a:prstGeom prst="roundRect">
            <a:avLst/>
          </a:prstGeom>
          <a:solidFill>
            <a:srgbClr val="6E6E73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a:typeface="Times New Roman"/>
              </a:rPr>
              <a:t>Recruiter Dashboard &amp;
Auditing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389120"/>
            <a:ext cx="3200400" cy="640080"/>
          </a:xfrm>
          <a:prstGeom prst="roundRect">
            <a:avLst/>
          </a:prstGeom>
          <a:solidFill>
            <a:srgbClr val="6E6E73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 a:typeface="Times New Roman"/>
              </a:rPr>
              <a:t>Shortlisting &amp; 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7830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A0A0A0"/>
                </a:solidFill>
                <a:latin typeface="Times New Roman" a:typeface="Times New Roman"/>
              </a:rPr>
              <a:t>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7830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A0A0A0"/>
                </a:solidFill>
                <a:latin typeface="Times New Roman" a:typeface="Times New Roman"/>
              </a:rPr>
              <a:t>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2860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A0A0A0"/>
                </a:solidFill>
                <a:latin typeface="Times New Roman" a:typeface="Times New Roman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803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A0A0A0"/>
                </a:solidFill>
                <a:latin typeface="Times New Roman" a:typeface="Times New Roman"/>
              </a:rPr>
              <a:t>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8803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A0A0A0"/>
                </a:solidFill>
                <a:latin typeface="Times New Roman" a:typeface="Times New Roman"/>
              </a:rPr>
              <a:t>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832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A0A0A0"/>
                </a:solidFill>
                <a:latin typeface="Times New Roman" a:typeface="Times New Roman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5720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A0A0A0"/>
                </a:solidFill>
                <a:latin typeface="Times New Roman" a:typeface="Times New Roman"/>
              </a:rPr>
              <a:t>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</a:pPr>
            <a:r>
              <a:rPr sz="2800" b="1" i="0">
                <a:solidFill>
                  <a:srgbClr val="C3C3C3"/>
                </a:solidFill>
                <a:latin typeface="Times New Roman" a:typeface="Times New Roman"/>
              </a:rPr>
              <a:t>•Frontend:</a:t>
            </a:r>
            <a:r>
              <a:rPr sz="2800" b="0" i="0">
                <a:solidFill>
                  <a:srgbClr val="C3C3C3"/>
                </a:solidFill>
                <a:latin typeface="Times New Roman" a:typeface="Times New Roman"/>
              </a:rPr>
              <a:t> React.js, HTML, CSS, JavaScript</a:t>
            </a:r>
          </a:p>
          <a:p>
            <a:pPr>
              <a:spcBef>
                <a:spcPts val="2000"/>
              </a:spcBef>
            </a:pPr>
            <a:r>
              <a:rPr sz="2800" b="1" i="0">
                <a:solidFill>
                  <a:srgbClr val="C3C3C3"/>
                </a:solidFill>
                <a:latin typeface="Times New Roman" a:typeface="Times New Roman"/>
              </a:rPr>
              <a:t>•Backend:</a:t>
            </a:r>
            <a:r>
              <a:rPr sz="2800" b="0" i="0">
                <a:solidFill>
                  <a:srgbClr val="C3C3C3"/>
                </a:solidFill>
                <a:latin typeface="Times New Roman" a:typeface="Times New Roman"/>
              </a:rPr>
              <a:t> Node.js + Express.js (or Python Flask/FastAPI)</a:t>
            </a:r>
          </a:p>
          <a:p>
            <a:pPr>
              <a:spcBef>
                <a:spcPts val="2000"/>
              </a:spcBef>
            </a:pPr>
            <a:r>
              <a:rPr sz="2800" b="1" i="0">
                <a:solidFill>
                  <a:srgbClr val="C3C3C3"/>
                </a:solidFill>
                <a:latin typeface="Times New Roman" a:typeface="Times New Roman"/>
              </a:rPr>
              <a:t>•Database:</a:t>
            </a:r>
            <a:r>
              <a:rPr sz="2800" b="0" i="0">
                <a:solidFill>
                  <a:srgbClr val="C3C3C3"/>
                </a:solidFill>
                <a:latin typeface="Times New Roman" a:typeface="Times New Roman"/>
              </a:rPr>
              <a:t> MongoDB (or MySQL/PostgreSQL)</a:t>
            </a:r>
          </a:p>
          <a:p>
            <a:pPr>
              <a:spcBef>
                <a:spcPts val="2000"/>
              </a:spcBef>
            </a:pPr>
            <a:r>
              <a:rPr sz="2800" b="1" i="0">
                <a:solidFill>
                  <a:srgbClr val="C3C3C3"/>
                </a:solidFill>
                <a:latin typeface="Times New Roman" a:typeface="Times New Roman"/>
              </a:rPr>
              <a:t>•AI/ML:</a:t>
            </a:r>
            <a:r>
              <a:rPr sz="2800" b="0" i="0">
                <a:solidFill>
                  <a:srgbClr val="C3C3C3"/>
                </a:solidFill>
                <a:latin typeface="Times New Roman" a:typeface="Times New Roman"/>
              </a:rPr>
              <a:t> Python (scikit-learn, pandas, numpy, NLTK/spaCy), AIF360 for bias detection</a:t>
            </a:r>
          </a:p>
          <a:p>
            <a:pPr>
              <a:spcBef>
                <a:spcPts val="2000"/>
              </a:spcBef>
            </a:pPr>
            <a:r>
              <a:rPr sz="2800" b="1" i="0">
                <a:solidFill>
                  <a:srgbClr val="C3C3C3"/>
                </a:solidFill>
                <a:latin typeface="Times New Roman" a:typeface="Times New Roman"/>
              </a:rPr>
              <a:t>•Tools:</a:t>
            </a:r>
            <a:r>
              <a:rPr sz="2800" b="0" i="0">
                <a:solidFill>
                  <a:srgbClr val="C3C3C3"/>
                </a:solidFill>
                <a:latin typeface="Times New Roman" a:typeface="Times New Roman"/>
              </a:rPr>
              <a:t> Git/GitHub, VS Code, Postman, Docker (optional)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005840"/>
          </a:xfrm>
          <a:prstGeom prst="roundRect">
            <a:avLst/>
          </a:prstGeom>
          <a:solidFill>
            <a:srgbClr val="649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E1E1E"/>
                </a:solidFill>
                <a:latin typeface="Times New Roman" a:typeface="Times New Roman"/>
              </a:rPr>
              <a:t>CLIENT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830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282828"/>
                </a:solidFill>
                <a:latin typeface="Times New Roman" a:typeface="Times New Roman"/>
              </a:rPr>
              <a:t>Web Frontend (HTML/CSS/JS) | Candidate, Recruiter, Admin Portals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11064240" cy="1005840"/>
          </a:xfrm>
          <a:prstGeom prst="roundRect">
            <a:avLst/>
          </a:prstGeom>
          <a:solidFill>
            <a:srgbClr val="82A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E1E1E"/>
                </a:solidFill>
                <a:latin typeface="Times New Roman" a:typeface="Times New Roman"/>
              </a:rPr>
              <a:t>API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282828"/>
                </a:solidFill>
                <a:latin typeface="Times New Roman" a:typeface="Times New Roman"/>
              </a:rPr>
              <a:t>Flask REST API | JWT Auth | Rate Limiting | CORS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1064240" cy="1005840"/>
          </a:xfrm>
          <a:prstGeom prst="roundRect">
            <a:avLst/>
          </a:prstGeom>
          <a:solidFill>
            <a:srgbClr val="A0C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77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E1E1E"/>
                </a:solidFill>
                <a:latin typeface="Times New Roman" a:typeface="Times New Roman"/>
              </a:rPr>
              <a:t>SERVICE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160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282828"/>
                </a:solidFill>
                <a:latin typeface="Times New Roman" a:typeface="Times New Roman"/>
              </a:rPr>
              <a:t>NLP Engine | Fairness Engine | Matching Engine | Interview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1064240" cy="1005840"/>
          </a:xfrm>
          <a:prstGeom prst="roundRect">
            <a:avLst/>
          </a:prstGeom>
          <a:solidFill>
            <a:srgbClr val="BED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1E1E1E"/>
                </a:solidFill>
                <a:latin typeface="Times New Roman" a:typeface="Times New Roman"/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349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282828"/>
                </a:solidFill>
                <a:latin typeface="Times New Roman" a:typeface="Times New Roman"/>
              </a:rPr>
              <a:t>MongoDB (Documents) | Redis (Cache) | File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31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A0A0A0"/>
                </a:solidFill>
                <a:latin typeface="Times New Roman" a:typeface="Times New Roman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5204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A0A0A0"/>
                </a:solidFill>
                <a:latin typeface="Times New Roman" a:typeface="Times New Roman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7091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A0A0A0"/>
                </a:solidFill>
                <a:latin typeface="Times New Roman" a:typeface="Times New Roman"/>
              </a:rPr>
              <a:t>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Fairness &amp; Bias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❑ Implemented Fairness Metrics:</a:t>
            </a:r>
          </a:p>
          <a:p>
            <a:pPr>
              <a:spcBef>
                <a:spcPts val="14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Demographic Parity: Selection rate equality across groups (Diff &lt; 0.1)</a:t>
            </a:r>
          </a:p>
          <a:p>
            <a:pPr>
              <a:spcBef>
                <a:spcPts val="14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Disparate Impact: Ratio of selection rates ≥ 0.8 (80% Rule - EEOC 1978)</a:t>
            </a:r>
          </a:p>
          <a:p>
            <a:pPr>
              <a:spcBef>
                <a:spcPts val="14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Equal Opportunity: TPR equality across groups (Hardt et al. 2016)</a:t>
            </a:r>
          </a:p>
          <a:p>
            <a:pPr>
              <a:spcBef>
                <a:spcPts val="14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Equalized Odds: TPR + FPR equality across groups</a:t>
            </a:r>
          </a:p>
          <a:p>
            <a:pPr>
              <a:spcBef>
                <a:spcPts val="14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Theil Index: Entropy-based inequality measure &lt; 0.2</a:t>
            </a:r>
          </a:p>
          <a:p>
            <a:pPr>
              <a:spcBef>
                <a:spcPts val="14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❑ Implementation:</a:t>
            </a:r>
          </a:p>
          <a:p>
            <a:pPr>
              <a:spcBef>
                <a:spcPts val="1400"/>
              </a:spcBef>
            </a:pP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◆ Custom NumPy/Pandas engine (no AIF360 dependency for cloud compatibility)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AI Interviewer – Definition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6430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❖ Definition: </a:t>
            </a:r>
            <a:r>
              <a:rPr sz="2200" b="0" i="1">
                <a:solidFill>
                  <a:srgbClr val="C3C3C3"/>
                </a:solidFill>
                <a:latin typeface="Times New Roman" a:typeface="Times New Roman"/>
              </a:rPr>
              <a:t>A structured, AI-assisted interview orchestration system that selects, presents, and evaluates predefined domain-specific questions.</a:t>
            </a:r>
          </a:p>
          <a:p>
            <a:pPr>
              <a:spcBef>
                <a:spcPts val="16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❖ Key Features: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C3C3C3"/>
                </a:solidFill>
                <a:latin typeface="Times New Roman" a:typeface="Times New Roman"/>
              </a:rPr>
              <a:t>◆ Uses curated question banks (100+ questions across 10+ skill categories)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C3C3C3"/>
                </a:solidFill>
                <a:latin typeface="Times New Roman" a:typeface="Times New Roman"/>
              </a:rPr>
              <a:t>◆ Questions ordered: basic → intermediate → advanced (same for all candidates)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C3C3C3"/>
                </a:solidFill>
                <a:latin typeface="Times New Roman" a:typeface="Times New Roman"/>
              </a:rPr>
              <a:t>◆ Keyword relevance scoring against expected concepts</a:t>
            </a:r>
          </a:p>
          <a:p>
            <a:pPr>
              <a:spcBef>
                <a:spcPts val="16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❖ What it is NOT: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◆ NOT generative AI – does not create new questions dynamically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◆ NOT adaptive per resume – ensures fairness through standardization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A0A0A0"/>
                </a:solidFill>
                <a:latin typeface="Times New Roman" a:typeface="Times New Roman"/>
              </a:rPr>
              <a:t>◆ NOT emotion/personality analysis – text-based evaluation only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Implementation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640080"/>
          </a:xfrm>
          <a:prstGeom prst="rect">
            <a:avLst/>
          </a:prstGeom>
          <a:solidFill>
            <a:srgbClr val="41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1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Times New Roman" a:typeface="Times New Roman"/>
              </a:rP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173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Times New Roman" a:typeface="Times New Roman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41731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Times New Roman" a:typeface="Times New Roman"/>
              </a:rPr>
              <a:t>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39"/>
            <a:ext cx="11430000" cy="640080"/>
          </a:xfrm>
          <a:prstGeom prst="rect">
            <a:avLst/>
          </a:prstGeom>
          <a:solidFill>
            <a:srgbClr val="37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39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Core ATS (Jobs, Applications)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05739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✅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05739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Flask, 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11430000" cy="640080"/>
          </a:xfrm>
          <a:prstGeom prst="rect">
            <a:avLst/>
          </a:prstGeom>
          <a:solidFill>
            <a:srgbClr val="30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9747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Resume Parser &amp; Anonymizer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9747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✅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69747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PyPDF2, spaCy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399"/>
            <a:ext cx="11430000" cy="640080"/>
          </a:xfrm>
          <a:prstGeom prst="rect">
            <a:avLst/>
          </a:prstGeom>
          <a:solidFill>
            <a:srgbClr val="37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3755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AI Interview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3755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✅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33755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Rule-based + NLP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0479"/>
            <a:ext cx="11430000" cy="640080"/>
          </a:xfrm>
          <a:prstGeom prst="rect">
            <a:avLst/>
          </a:prstGeom>
          <a:solidFill>
            <a:srgbClr val="30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ML Matching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97763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✅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97763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TF-IDF, BERT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60"/>
            <a:ext cx="11430000" cy="640080"/>
          </a:xfrm>
          <a:prstGeom prst="rect">
            <a:avLst/>
          </a:prstGeom>
          <a:solidFill>
            <a:srgbClr val="37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177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Fairness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6177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✅ Complete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617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NumPy, Pandas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120640"/>
            <a:ext cx="11430000" cy="640080"/>
          </a:xfrm>
          <a:prstGeom prst="rect">
            <a:avLst/>
          </a:prstGeom>
          <a:solidFill>
            <a:srgbClr val="30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GDPR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2578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✅ 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257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Export, Delete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760719"/>
            <a:ext cx="11430000" cy="640080"/>
          </a:xfrm>
          <a:prstGeom prst="rect">
            <a:avLst/>
          </a:prstGeom>
          <a:solidFill>
            <a:srgbClr val="37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89787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Video/Audio Interview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89787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🔮 Future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89787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3C3C3"/>
                </a:solidFill>
                <a:latin typeface="Times New Roman" a:typeface="Times New Roman"/>
              </a:rPr>
              <a:t>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30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imes New Roman" a:typeface="Times New Roman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6430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◆ Video Interview Recording (Phase 2)</a:t>
            </a:r>
          </a:p>
          <a:p>
            <a:pPr>
              <a:spcBef>
                <a:spcPts val="400"/>
              </a:spcBef>
            </a:pPr>
            <a:r>
              <a:rPr sz="1800" b="0" i="1">
                <a:solidFill>
                  <a:srgbClr val="A0A0A0"/>
                </a:solidFill>
                <a:latin typeface="Times New Roman" a:typeface="Times New Roman"/>
              </a:rPr>
              <a:t>     → Record candidate video responses for recruiter review</a:t>
            </a:r>
          </a:p>
          <a:p>
            <a:pPr>
              <a:spcBef>
                <a:spcPts val="400"/>
              </a:spcBef>
            </a:pPr>
            <a:r>
              <a:rPr sz="1800" b="0" i="1">
                <a:solidFill>
                  <a:srgbClr val="A0A0A0"/>
                </a:solidFill>
                <a:latin typeface="Times New Roman" a:typeface="Times New Roman"/>
              </a:rPr>
              <a:t>     → No automated video analysis planned</a:t>
            </a:r>
          </a:p>
          <a:p>
            <a:pPr>
              <a:spcBef>
                <a:spcPts val="10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◆ Speech-to-Text Transcription (Phase 2)</a:t>
            </a:r>
          </a:p>
          <a:p>
            <a:pPr>
              <a:spcBef>
                <a:spcPts val="400"/>
              </a:spcBef>
            </a:pPr>
            <a:r>
              <a:rPr sz="1800" b="0" i="1">
                <a:solidFill>
                  <a:srgbClr val="A0A0A0"/>
                </a:solidFill>
                <a:latin typeface="Times New Roman" a:typeface="Times New Roman"/>
              </a:rPr>
              <a:t>     → Convert audio responses to text for keyword scoring</a:t>
            </a:r>
          </a:p>
          <a:p>
            <a:pPr>
              <a:spcBef>
                <a:spcPts val="10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◆ Enhanced Semantic Scoring (Phase 3)</a:t>
            </a:r>
          </a:p>
          <a:p>
            <a:pPr>
              <a:spcBef>
                <a:spcPts val="400"/>
              </a:spcBef>
            </a:pPr>
            <a:r>
              <a:rPr sz="1800" b="0" i="1">
                <a:solidFill>
                  <a:srgbClr val="A0A0A0"/>
                </a:solidFill>
                <a:latin typeface="Times New Roman" a:typeface="Times New Roman"/>
              </a:rPr>
              <a:t>     → Fine-tuned domain-specific language models</a:t>
            </a:r>
          </a:p>
          <a:p>
            <a:pPr>
              <a:spcBef>
                <a:spcPts val="10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◆ Multi-Language Support (Phase 3)</a:t>
            </a:r>
          </a:p>
          <a:p>
            <a:pPr>
              <a:spcBef>
                <a:spcPts val="400"/>
              </a:spcBef>
            </a:pPr>
            <a:r>
              <a:rPr sz="1800" b="0" i="1">
                <a:solidFill>
                  <a:srgbClr val="A0A0A0"/>
                </a:solidFill>
                <a:latin typeface="Times New Roman" a:typeface="Times New Roman"/>
              </a:rPr>
              <a:t>     → Hindi, Telugu resume parsing and localized question banks</a:t>
            </a:r>
          </a:p>
          <a:p>
            <a:pPr>
              <a:spcBef>
                <a:spcPts val="1000"/>
              </a:spcBef>
            </a:pPr>
            <a:r>
              <a:rPr sz="2200" b="1" i="0">
                <a:solidFill>
                  <a:srgbClr val="C3C3C3"/>
                </a:solidFill>
                <a:latin typeface="Times New Roman" a:typeface="Times New Roman"/>
              </a:rPr>
              <a:t>◆ LinkedIn API Integration (Phase 3)</a:t>
            </a:r>
          </a:p>
          <a:p>
            <a:pPr>
              <a:spcBef>
                <a:spcPts val="400"/>
              </a:spcBef>
            </a:pPr>
            <a:r>
              <a:rPr sz="1800" b="0" i="1">
                <a:solidFill>
                  <a:srgbClr val="A0A0A0"/>
                </a:solidFill>
                <a:latin typeface="Times New Roman" a:typeface="Times New Roman"/>
              </a:rPr>
              <a:t>     → Profile import for candidate convenience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6430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Times New Roman" a: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772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✓ Developed a production-ready, bias-aware Applicant Tracking System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✓ Implemented AI-assisted structured interview module with predefined question banks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✓ Created custom fairness engine with 9+ metrics (cloud-compatible)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✓ Achieved end-to-end automation with optional human oversight</a:t>
            </a:r>
          </a:p>
          <a:p>
            <a:pPr>
              <a:spcBef>
                <a:spcPts val="1400"/>
              </a:spcBef>
            </a:pPr>
            <a:r>
              <a:rPr sz="2400" b="0" i="1">
                <a:solidFill>
                  <a:srgbClr val="C3C3C3"/>
                </a:solidFill>
                <a:latin typeface="Times New Roman" a:typeface="Times New Roman"/>
              </a:rPr>
              <a:t>✓ System ready for deployment and academic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64A0C8"/>
                </a:solidFill>
                <a:latin typeface="Times New Roman" a:typeface="Times New Roman"/>
              </a:rPr>
              <a:t>Thank You |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