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41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12147" y="2286000"/>
            <a:ext cx="8767400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HIRING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6683" y="3383280"/>
            <a:ext cx="67783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1">
                <a:solidFill>
                  <a:srgbClr val="C8C8C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Bias-Aware Recruitment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0337" y="4572000"/>
            <a:ext cx="443102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AAA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2 Presentation |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2573" y="5669280"/>
            <a:ext cx="378654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AAAA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Team: [Names] | Guide: [Guide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 dirty="0">
                <a:solidFill>
                  <a:srgbClr val="FFFFFF"/>
                </a:solidFill>
                <a:latin typeface="Georgia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Recruitment is a critical process in every organization but is often prone to unconscious bias.</a:t>
            </a:r>
          </a:p>
          <a:p>
            <a:pPr>
              <a:spcBef>
                <a:spcPts val="1200"/>
              </a:spcBef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A technology-driven approach to streamline recruitment from job posting to onboarding.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1" i="1">
                <a:solidFill>
                  <a:srgbClr val="C8C8C8"/>
                </a:solidFill>
                <a:latin typeface="Georgia"/>
              </a:rPr>
              <a:t>◆ Integrates AI, automation, and data analytics to reduce bias, improve efficiency, and ensure better candidate-job matching.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1" i="1">
                <a:solidFill>
                  <a:srgbClr val="C8C8C8"/>
                </a:solidFill>
                <a:latin typeface="Georgia"/>
              </a:rPr>
              <a:t>◆ Traditional hiring is often time-consuming, costly, and biased.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Smart Hiring enables: Faster candidate screening with AI-powered resume parsing. Fair evaluations through algorithmic transparency and bias reduction. Data-driven decisions for improved talent acquisition.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 u="sng">
                <a:solidFill>
                  <a:srgbClr val="FFFFFF"/>
                </a:solidFill>
                <a:latin typeface="Georgia"/>
              </a:rPr>
              <a:t>Base Paper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1" i="1">
                <a:solidFill>
                  <a:srgbClr val="C8C8C8"/>
                </a:solidFill>
                <a:latin typeface="Georgia"/>
              </a:rPr>
              <a:t>◆ Title: Fairness and Bias in Algorithmic Hiring: A Multidisciplinary Survey (Fabris et al., 2025)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1" i="1">
                <a:solidFill>
                  <a:srgbClr val="C8C8C8"/>
                </a:solidFill>
                <a:latin typeface="Georgia"/>
              </a:rPr>
              <a:t>◆ Source: https://arxiv.org/pdf/2309.13933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1" i="1">
                <a:solidFill>
                  <a:srgbClr val="C8C8C8"/>
                </a:solidFill>
                <a:latin typeface="Georgia"/>
              </a:rPr>
              <a:t>◆ Purpose: Understand how AI in hiring remains fair, transparent, and bias-free.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C8C8C8"/>
                </a:solidFill>
                <a:latin typeface="Georgia"/>
              </a:rPr>
              <a:t>❖ Highlights:</a:t>
            </a:r>
          </a:p>
          <a:p>
            <a:pPr>
              <a:spcBef>
                <a:spcPts val="12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◆ Covers the recruitment pipeline end-to-end.</a:t>
            </a:r>
          </a:p>
          <a:p>
            <a:pPr>
              <a:spcBef>
                <a:spcPts val="12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◆ Reviews bias sources, fairness metrics, and mitigation methods.</a:t>
            </a:r>
          </a:p>
          <a:p>
            <a:pPr>
              <a:spcBef>
                <a:spcPts val="12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◆ Framework for ethical and accountable AI hiring.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Sources of Bias (Section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Bias arises from multiple levels in hiring systems: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1" i="1">
                <a:solidFill>
                  <a:srgbClr val="C8C8C8"/>
                </a:solidFill>
                <a:latin typeface="Georgia"/>
              </a:rPr>
              <a:t>◆ Institutional Bias – Historical hiring patterns favour certain groups.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1" i="1">
                <a:solidFill>
                  <a:srgbClr val="C8C8C8"/>
                </a:solidFill>
                <a:latin typeface="Georgia"/>
              </a:rPr>
              <a:t>◆ Individual Bias – Recruiter's subjective patterns and preferences.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1" i="1">
                <a:solidFill>
                  <a:srgbClr val="C8C8C8"/>
                </a:solidFill>
                <a:latin typeface="Georgia"/>
              </a:rPr>
              <a:t>◆ Technological Bias – Model design and feature selection issues.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1" i="1">
                <a:solidFill>
                  <a:srgbClr val="C8C8C8"/>
                </a:solidFill>
                <a:latin typeface="Georgia"/>
              </a:rPr>
              <a:t>◆ Key Takeaway: Bias is socio-technical (data + algorithm + process).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Fairness Metrics &amp; Measures (Section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600" b="1" i="0">
                <a:solidFill>
                  <a:srgbClr val="C8C8C8"/>
                </a:solidFill>
                <a:latin typeface="Georgia"/>
              </a:rPr>
              <a:t>❑ Common Fairness Concepts: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Outcome Fairness: Equal selection chances across demographic groups.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Accuracy Fairness: Equal error rates for different groups.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Representational Fairness: Avoid stereotypes in candidate representation.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Impact Fairness: Equal long-term benefits (role fit, salary, growth).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Choose measurable metrics like Demographic Parity or Equal Opportunity.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Mitigation Approaches (Section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400" b="1" i="0">
                <a:solidFill>
                  <a:srgbClr val="C8C8C8"/>
                </a:solidFill>
                <a:latin typeface="Georgia"/>
              </a:rPr>
              <a:t>❖ Fairness Interventions Across the Pipeline: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Pre-Processing – Modify data (remove names, rebalance datasets).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In-Processing – Train models with fairness constraints (adversarial debiasing).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Post-Processing – Adjust rankings or outputs to ensure fairness.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1" i="1">
                <a:solidFill>
                  <a:srgbClr val="C8C8C8"/>
                </a:solidFill>
                <a:latin typeface="Georgia"/>
              </a:rPr>
              <a:t>◆ Challenges: Fairness-accuracy trade-off, need for domain-specific auditing.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Example for Smart Hiring: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→ Pre-processing: anonymized resumes.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→ In-processing: fairness-aware scoring.</a:t>
            </a:r>
          </a:p>
          <a:p>
            <a:pPr>
              <a:spcBef>
                <a:spcPts val="6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→ Post-processing: audit before shortlisting.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Connection to Smart Hiring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400" b="1" i="0">
                <a:solidFill>
                  <a:srgbClr val="C8C8C8"/>
                </a:solidFill>
                <a:latin typeface="Georgia"/>
              </a:rPr>
              <a:t>❖ Integration Ideas: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Introduce Career Consistency Index (CCI) to assess job stability.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Ethically integrate LinkedIn API data for skill and work validation.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Apply Equal Opportunity metric for shortlisting fairness.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Use IBM AIF360 toolkit for fairness auditing.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400" b="0" i="1">
                <a:solidFill>
                  <a:srgbClr val="C8C8C8"/>
                </a:solidFill>
                <a:latin typeface="Georgia"/>
              </a:rPr>
              <a:t>◆ Quote: "Fairness in hiring is not a one-time calibration but a continuous governance process." – Fabris et al.,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 u="sng">
                <a:solidFill>
                  <a:srgbClr val="FFFFFF"/>
                </a:solidFill>
                <a:latin typeface="Georgia"/>
              </a:rPr>
              <a:t>Literature Survey (Paper 1):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Georgia"/>
              </a:rPr>
              <a:t>1. </a:t>
            </a:r>
            <a:r>
              <a:rPr sz="2200" b="1" i="0">
                <a:solidFill>
                  <a:srgbClr val="C8C8C8"/>
                </a:solidFill>
                <a:latin typeface="Georgia"/>
              </a:rPr>
              <a:t>Title: </a:t>
            </a:r>
            <a:r>
              <a:rPr sz="2200" b="0" i="0">
                <a:solidFill>
                  <a:srgbClr val="C8C8C8"/>
                </a:solidFill>
                <a:latin typeface="Georgia"/>
              </a:rPr>
              <a:t>Amazon Scraps AI Recruiting Tool That Showed Bias Against Women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Georgia"/>
              </a:rPr>
              <a:t>2. </a:t>
            </a:r>
            <a:r>
              <a:rPr sz="2200" b="1" i="0">
                <a:solidFill>
                  <a:srgbClr val="C8C8C8"/>
                </a:solidFill>
                <a:latin typeface="Georgia"/>
              </a:rPr>
              <a:t>Authors: </a:t>
            </a:r>
            <a:r>
              <a:rPr sz="2200" b="0" i="0">
                <a:solidFill>
                  <a:srgbClr val="C8C8C8"/>
                </a:solidFill>
                <a:latin typeface="Georgia"/>
              </a:rPr>
              <a:t>Reuters News Report (2018)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Georgia"/>
              </a:rPr>
              <a:t>3. </a:t>
            </a:r>
            <a:r>
              <a:rPr sz="2200" b="1" i="0">
                <a:solidFill>
                  <a:srgbClr val="C8C8C8"/>
                </a:solidFill>
                <a:latin typeface="Georgia"/>
              </a:rPr>
              <a:t>Publication Medium: </a:t>
            </a:r>
            <a:r>
              <a:rPr sz="2200" b="0" i="0">
                <a:solidFill>
                  <a:srgbClr val="C8C8C8"/>
                </a:solidFill>
                <a:latin typeface="Georgia"/>
              </a:rPr>
              <a:t>News / Online Coverage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Georgia"/>
              </a:rPr>
              <a:t>4. </a:t>
            </a:r>
            <a:r>
              <a:rPr sz="2200" b="1" i="0">
                <a:solidFill>
                  <a:srgbClr val="C8C8C8"/>
                </a:solidFill>
                <a:latin typeface="Georgia"/>
              </a:rPr>
              <a:t>Publication Date: </a:t>
            </a:r>
            <a:r>
              <a:rPr sz="2200" b="0" i="0">
                <a:solidFill>
                  <a:srgbClr val="C8C8C8"/>
                </a:solidFill>
                <a:latin typeface="Georgia"/>
              </a:rPr>
              <a:t>2018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Georgia"/>
              </a:rPr>
              <a:t>5. </a:t>
            </a:r>
            <a:r>
              <a:rPr sz="2200" b="1" i="0">
                <a:solidFill>
                  <a:srgbClr val="C8C8C8"/>
                </a:solidFill>
                <a:latin typeface="Georgia"/>
              </a:rPr>
              <a:t>Methodology: </a:t>
            </a:r>
            <a:r>
              <a:rPr sz="2200" b="0" i="0">
                <a:solidFill>
                  <a:srgbClr val="C8C8C8"/>
                </a:solidFill>
                <a:latin typeface="Georgia"/>
              </a:rPr>
              <a:t>Internal AI recruiting tool analyzed resumes but penalized resumes containing gender-related terms such as "women's." Model biased against female candidates, leading to scrapping of the project. Demonstrates risks of algorithmic bias in recruitment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Literature Survey (Paper 1) -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6128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2000" b="1" i="0">
                <a:solidFill>
                  <a:srgbClr val="FFFFFF"/>
                </a:solidFill>
                <a:latin typeface="Georgia"/>
              </a:rPr>
              <a:t>Steps: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Data Collection &amp; Training: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Historical Amazon resumes and hiring data used to train the AI.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Feature Extraction: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System learned patterns from resumes (skills, keywords, institutions).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Scoring: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Candidates ranked based on similarity to past successful hires.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Bias Detection: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System penalized resumes with words like "women's" or all-women's colleges.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Abandonment: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After unsuccessful attempts to fix bias, Amazon scrapped the tool.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FFFFFF"/>
                </a:solidFill>
                <a:latin typeface="Georgia"/>
              </a:rPr>
              <a:t>Tools: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Machine Learning Models: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Internal AI recruitment system trained on historical data.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Data Sources: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Amazon's past resumes and hiring outcomes.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Evaluation Metrics: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Recruitment efficiency, candidate ranking accuracy.</a:t>
            </a:r>
          </a:p>
          <a:p>
            <a:pPr>
              <a:spcBef>
                <a:spcPts val="1000"/>
              </a:spcBef>
            </a:pPr>
            <a:r>
              <a:rPr sz="2000" b="1" i="0">
                <a:solidFill>
                  <a:srgbClr val="FFFFFF"/>
                </a:solidFill>
                <a:latin typeface="Georgia"/>
              </a:rPr>
              <a:t>Limitations: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Biased Training Data: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Male-dominated historical hiring patterns reinforced gender bias.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Spurious Correlations: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Terms like "women's" became unfair negative signals.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Debiasing Challenges: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Even after tweaks, bias persisted in hidden forms.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C8C8C8"/>
                </a:solidFill>
                <a:latin typeface="Georgia"/>
              </a:rPr>
              <a:t>◆ Scalability Issues:</a:t>
            </a:r>
            <a:r>
              <a:rPr sz="1600" b="0" i="1">
                <a:solidFill>
                  <a:srgbClr val="C8C8C8"/>
                </a:solidFill>
                <a:latin typeface="Georgia"/>
              </a:rPr>
              <a:t> Couldn't guarantee fairness across all candidate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 u="sng">
                <a:solidFill>
                  <a:srgbClr val="FFFFFF"/>
                </a:solidFill>
                <a:latin typeface="Georgia"/>
              </a:rPr>
              <a:t>Literature Survey (Paper 2):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11612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Georgia"/>
              </a:rPr>
              <a:t>1. </a:t>
            </a:r>
            <a:r>
              <a:rPr sz="2200" b="1" i="0">
                <a:solidFill>
                  <a:srgbClr val="C8C8C8"/>
                </a:solidFill>
                <a:latin typeface="Georgia"/>
              </a:rPr>
              <a:t>Title: </a:t>
            </a:r>
            <a:r>
              <a:rPr sz="2200" b="0" i="0">
                <a:solidFill>
                  <a:srgbClr val="C8C8C8"/>
                </a:solidFill>
                <a:latin typeface="Georgia"/>
              </a:rPr>
              <a:t>Algorithmic Transparency Reports for Hiring Systems: Survey and Proposal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Georgia"/>
              </a:rPr>
              <a:t>2. </a:t>
            </a:r>
            <a:r>
              <a:rPr sz="2200" b="1" i="0">
                <a:solidFill>
                  <a:srgbClr val="C8C8C8"/>
                </a:solidFill>
                <a:latin typeface="Georgia"/>
              </a:rPr>
              <a:t>Authors: </a:t>
            </a:r>
            <a:r>
              <a:rPr sz="2200" b="0" i="0">
                <a:solidFill>
                  <a:srgbClr val="C8C8C8"/>
                </a:solidFill>
                <a:latin typeface="Georgia"/>
              </a:rPr>
              <a:t>Langenkamp, Costa, Cheung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Georgia"/>
              </a:rPr>
              <a:t>3. </a:t>
            </a:r>
            <a:r>
              <a:rPr sz="2200" b="1" i="0">
                <a:solidFill>
                  <a:srgbClr val="C8C8C8"/>
                </a:solidFill>
                <a:latin typeface="Georgia"/>
              </a:rPr>
              <a:t>Publication Medium: </a:t>
            </a:r>
            <a:r>
              <a:rPr sz="2200" b="0" i="0">
                <a:solidFill>
                  <a:srgbClr val="C8C8C8"/>
                </a:solidFill>
                <a:latin typeface="Georgia"/>
              </a:rPr>
              <a:t>Journal / Preprint (Policy &amp; Technology)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Georgia"/>
              </a:rPr>
              <a:t>4. </a:t>
            </a:r>
            <a:r>
              <a:rPr sz="2200" b="1" i="0">
                <a:solidFill>
                  <a:srgbClr val="C8C8C8"/>
                </a:solidFill>
                <a:latin typeface="Georgia"/>
              </a:rPr>
              <a:t>Publication Date: </a:t>
            </a:r>
            <a:r>
              <a:rPr sz="2200" b="0" i="0">
                <a:solidFill>
                  <a:srgbClr val="C8C8C8"/>
                </a:solidFill>
                <a:latin typeface="Georgia"/>
              </a:rPr>
              <a:t>2020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FFFFFF"/>
                </a:solidFill>
                <a:latin typeface="Georgia"/>
              </a:rPr>
              <a:t>5. </a:t>
            </a:r>
            <a:r>
              <a:rPr sz="2200" b="1" i="0">
                <a:solidFill>
                  <a:srgbClr val="C8C8C8"/>
                </a:solidFill>
                <a:latin typeface="Georgia"/>
              </a:rPr>
              <a:t>Methodology: </a:t>
            </a:r>
            <a:r>
              <a:rPr sz="2200" b="0" i="0">
                <a:solidFill>
                  <a:srgbClr val="C8C8C8"/>
                </a:solidFill>
                <a:latin typeface="Georgia"/>
              </a:rPr>
              <a:t>Conducted surveys and proposed Algorithmic Transparency Reports to document hiring system decisions. Explored legal and regulatory pathways for promoting transparency and fairness in algorithmic hiring.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❑ Challenges in Traditional Hiring</a:t>
            </a:r>
          </a:p>
          <a:p>
            <a:pPr>
              <a:spcBef>
                <a:spcPts val="12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◆ Bias in Evaluation – Gender, race, or name-based discrimination.</a:t>
            </a:r>
          </a:p>
          <a:p>
            <a:pPr>
              <a:spcBef>
                <a:spcPts val="12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◆ Time-Consuming – Manual screening of thousands of resumes.</a:t>
            </a:r>
          </a:p>
          <a:p>
            <a:pPr>
              <a:spcBef>
                <a:spcPts val="12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◆ Inconsistent Assessments – Subjective judgments across interviewers.</a:t>
            </a:r>
          </a:p>
          <a:p>
            <a:pPr>
              <a:spcBef>
                <a:spcPts val="12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◆ Poor Candidate Experience – Long processes with little feedback.</a:t>
            </a:r>
          </a:p>
          <a:p>
            <a:pPr>
              <a:spcBef>
                <a:spcPts val="1200"/>
              </a:spcBef>
            </a:pPr>
            <a:r>
              <a:rPr sz="2000" b="0" i="1">
                <a:solidFill>
                  <a:srgbClr val="AAAAAA"/>
                </a:solidFill>
                <a:latin typeface="Georgia"/>
              </a:rPr>
              <a:t>    ◆ Limited Transparency – Applicants don't know how decisions are made.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C8C8C8"/>
                </a:solidFill>
                <a:latin typeface="Georgia"/>
              </a:rPr>
              <a:t>❖ Why Change is Needed?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Organizations risk missing top talent due to inefficiencies and bias.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Growing demand for fair, data-driven, and efficient recruitment systems.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 Ensure Fairness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Reduce bias in screening, assessment, and selection.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 Enhance Efficiency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Automate resume parsing, online assessments, and scheduling.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 Improve Candidate Experience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Provide seamless digital workflows and timely feedback.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 Promote Transparency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Clear evaluation criteria and audit-friendly reports.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 Support Data-Driven Decisions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Use analytics to match candidates with roles accurately.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 Enable Inclusivity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Accessible assessments for diverse backgrounds and abilities.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200400" cy="1371600"/>
          </a:xfrm>
          <a:prstGeom prst="roundRect">
            <a:avLst/>
          </a:prstGeom>
          <a:solidFill>
            <a:srgbClr val="46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32326"/>
                </a:solidFill>
                <a:latin typeface="Georgia"/>
              </a:rPr>
              <a:t>Job Posting
&amp; Sourcing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32326"/>
                </a:solidFill>
                <a:latin typeface="Georgia"/>
              </a:rPr>
              <a:t>Centralized portal
AI-driven sourcing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200400" cy="1371600"/>
          </a:xfrm>
          <a:prstGeom prst="roundRect">
            <a:avLst/>
          </a:prstGeom>
          <a:solidFill>
            <a:srgbClr val="7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206240" y="1920240"/>
            <a:ext cx="411480" cy="411480"/>
          </a:xfrm>
          <a:prstGeom prst="ellipse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32326"/>
                </a:solidFill>
                <a:latin typeface="Georgia"/>
              </a:rPr>
              <a:t>Resume
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60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32326"/>
                </a:solidFill>
                <a:latin typeface="Georgia"/>
              </a:rPr>
              <a:t>NLP parsing
Automated shortlisting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828800"/>
            <a:ext cx="3200400" cy="1371600"/>
          </a:xfrm>
          <a:prstGeom prst="roundRect">
            <a:avLst/>
          </a:prstGeom>
          <a:solidFill>
            <a:srgbClr val="9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863840" y="1920240"/>
            <a:ext cx="411480" cy="411480"/>
          </a:xfrm>
          <a:prstGeom prst="ellipse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32326"/>
                </a:solidFill>
                <a:latin typeface="Georgia"/>
              </a:rPr>
              <a:t>Online
Assessments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560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32326"/>
                </a:solidFill>
                <a:latin typeface="Georgia"/>
              </a:rPr>
              <a:t>Skill-based, Bias-free
Accessible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3200400" cy="1371600"/>
          </a:xfrm>
          <a:prstGeom prst="roundRect">
            <a:avLst/>
          </a:prstGeom>
          <a:solidFill>
            <a:srgbClr val="46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8640" y="4206240"/>
            <a:ext cx="411480" cy="411480"/>
          </a:xfrm>
          <a:prstGeom prst="ellipse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5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32326"/>
                </a:solidFill>
                <a:latin typeface="Georgia"/>
              </a:rPr>
              <a:t>Interview
Scheduling &amp;
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32326"/>
                </a:solidFill>
                <a:latin typeface="Georgia"/>
              </a:rPr>
              <a:t>Automated scheduling
Structured rubrics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114800"/>
            <a:ext cx="3200400" cy="1371600"/>
          </a:xfrm>
          <a:prstGeom prst="roundRect">
            <a:avLst/>
          </a:prstGeom>
          <a:solidFill>
            <a:srgbClr val="7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206240" y="4206240"/>
            <a:ext cx="411480" cy="411480"/>
          </a:xfrm>
          <a:prstGeom prst="ellipse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25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32326"/>
                </a:solidFill>
                <a:latin typeface="Georgia"/>
              </a:rPr>
              <a:t>Final Selection
and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846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32326"/>
                </a:solidFill>
                <a:latin typeface="Georgia"/>
              </a:rPr>
              <a:t>Data-driven ranking
Fair feedback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114800"/>
            <a:ext cx="3200400" cy="1371600"/>
          </a:xfrm>
          <a:prstGeom prst="roundRect">
            <a:avLst/>
          </a:prstGeom>
          <a:solidFill>
            <a:srgbClr val="B4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863840" y="4206240"/>
            <a:ext cx="411480" cy="411480"/>
          </a:xfrm>
          <a:prstGeom prst="ellipse">
            <a:avLst/>
          </a:prstGeom>
          <a:solidFill>
            <a:srgbClr val="00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25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32326"/>
                </a:solidFill>
                <a:latin typeface="Georgia"/>
              </a:rPr>
              <a:t>Onboarding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8463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232326"/>
                </a:solidFill>
                <a:latin typeface="Georgia"/>
              </a:rPr>
              <a:t>Digital onboarding
HR system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377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C8C8C8"/>
                </a:solidFill>
                <a:latin typeface="Georgia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3774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C8C8C8"/>
                </a:solidFill>
                <a:latin typeface="Georgia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572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C8C8C8"/>
                </a:solidFill>
                <a:latin typeface="Georgia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572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C8C8C8"/>
                </a:solidFill>
                <a:latin typeface="Georgia"/>
              </a:rPr>
              <a:t>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SYSTEM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2011680" cy="731520"/>
          </a:xfrm>
          <a:prstGeom prst="ellipse">
            <a:avLst/>
          </a:prstGeom>
          <a:solidFill>
            <a:srgbClr val="78787D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Job Posting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2560320" cy="731520"/>
          </a:xfrm>
          <a:prstGeom prst="roundRect">
            <a:avLst/>
          </a:prstGeom>
          <a:solidFill>
            <a:srgbClr val="78787D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Candidate Registration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2560320" cy="731520"/>
          </a:xfrm>
          <a:prstGeom prst="roundRect">
            <a:avLst/>
          </a:prstGeom>
          <a:solidFill>
            <a:srgbClr val="78787D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Resume Upload &amp; Anonymization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3017520"/>
            <a:ext cx="2560320" cy="731520"/>
          </a:xfrm>
          <a:prstGeom prst="roundRect">
            <a:avLst/>
          </a:prstGeom>
          <a:solidFill>
            <a:srgbClr val="78787D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NLP Skill Extraction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017520"/>
            <a:ext cx="2560320" cy="731520"/>
          </a:xfrm>
          <a:prstGeom prst="roundRect">
            <a:avLst/>
          </a:prstGeom>
          <a:solidFill>
            <a:srgbClr val="78787D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Candidate Assessments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017520"/>
            <a:ext cx="2560320" cy="731520"/>
          </a:xfrm>
          <a:prstGeom prst="roundRect">
            <a:avLst/>
          </a:prstGeom>
          <a:solidFill>
            <a:srgbClr val="78787D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Interview Scheduling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754880"/>
            <a:ext cx="2560320" cy="731520"/>
          </a:xfrm>
          <a:prstGeom prst="roundRect">
            <a:avLst/>
          </a:prstGeom>
          <a:solidFill>
            <a:srgbClr val="78787D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Recruiter Dashboard &amp;
Auditing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754880"/>
            <a:ext cx="2560320" cy="731520"/>
          </a:xfrm>
          <a:prstGeom prst="roundRect">
            <a:avLst/>
          </a:prstGeom>
          <a:solidFill>
            <a:srgbClr val="78787D"/>
          </a:solidFill>
          <a:ln>
            <a:solidFill>
              <a:srgbClr val="505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Georgia"/>
              </a:rPr>
              <a:t>Shortlisting &amp; Onboarding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600" b="1" i="1">
                <a:solidFill>
                  <a:srgbClr val="C8C8C8"/>
                </a:solidFill>
                <a:latin typeface="Georgia"/>
              </a:rPr>
              <a:t>◆ Frontend: React.js, HTML, CSS, JavaScript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600" b="1" i="1">
                <a:solidFill>
                  <a:srgbClr val="C8C8C8"/>
                </a:solidFill>
                <a:latin typeface="Georgia"/>
              </a:rPr>
              <a:t>◆ Backend: Node.js + Express.js (or Python Flask/FastAPI)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600" b="1" i="1">
                <a:solidFill>
                  <a:srgbClr val="C8C8C8"/>
                </a:solidFill>
                <a:latin typeface="Georgia"/>
              </a:rPr>
              <a:t>◆ Database: MongoDB (or MySQL/PostgreSQL)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600" b="1" i="1">
                <a:solidFill>
                  <a:srgbClr val="C8C8C8"/>
                </a:solidFill>
                <a:latin typeface="Georgia"/>
              </a:rPr>
              <a:t>◆ AI/ML: Python (scikit-learn, pandas, numpy, NLTK/spaCy), AIF360 for bias detection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600" b="1" i="1">
                <a:solidFill>
                  <a:srgbClr val="C8C8C8"/>
                </a:solidFill>
                <a:latin typeface="Georgia"/>
              </a:rPr>
              <a:t>◆ Tools: Git/GitHub, VS Code, Postman, Docker (optional)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468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32326"/>
                </a:solidFill>
                <a:latin typeface="Georgia"/>
              </a:rPr>
              <a:t>CLIENT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600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32326"/>
                </a:solidFill>
                <a:latin typeface="Georgia"/>
              </a:rPr>
              <a:t>Web Frontend (HTML/CSS/JS) | Candidate, Recruiter, Admin Portals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698480" cy="914400"/>
          </a:xfrm>
          <a:prstGeom prst="roundRect">
            <a:avLst/>
          </a:prstGeom>
          <a:solidFill>
            <a:srgbClr val="78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32326"/>
                </a:solidFill>
                <a:latin typeface="Georgia"/>
              </a:rPr>
              <a:t>API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697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32326"/>
                </a:solidFill>
                <a:latin typeface="Georgia"/>
              </a:rPr>
              <a:t>Flask REST API | JWT Auth | Rate Limiting | CORS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698480" cy="914400"/>
          </a:xfrm>
          <a:prstGeom prst="roundRect">
            <a:avLst/>
          </a:prstGeom>
          <a:solidFill>
            <a:srgbClr val="96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32326"/>
                </a:solidFill>
                <a:latin typeface="Georgia"/>
              </a:rPr>
              <a:t>SERVICE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94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32326"/>
                </a:solidFill>
                <a:latin typeface="Georgia"/>
              </a:rPr>
              <a:t>NLP Engine | Fairness Engine | Matching Engine | Interview 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698480" cy="914400"/>
          </a:xfrm>
          <a:prstGeom prst="roundRect">
            <a:avLst/>
          </a:prstGeom>
          <a:solidFill>
            <a:srgbClr val="B4D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32326"/>
                </a:solidFill>
                <a:latin typeface="Georgia"/>
              </a:rP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892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232326"/>
                </a:solidFill>
                <a:latin typeface="Georgia"/>
              </a:rPr>
              <a:t>MongoDB (Documents) | Redis (Cache) | File Storage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Fairness &amp; Bias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 b="1" i="0">
                <a:solidFill>
                  <a:srgbClr val="C8C8C8"/>
                </a:solidFill>
                <a:latin typeface="Georgia"/>
              </a:rPr>
              <a:t>❖ Implemented Fairness Metrics: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Demographic Parity: Selection rate equality across groups (Diff &lt; 0.1)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Disparate Impact: Ratio of selection rates ≥ 0.8 (80% Rule - EEOC 1978)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Equal Opportunity: TPR equality across groups (Hardt et al. 2016)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Equalized Odds: TPR + FPR equality across groups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Theil Index: Entropy-based inequality measure &lt; 0.2</a:t>
            </a:r>
          </a:p>
          <a:p>
            <a:pPr>
              <a:spcBef>
                <a:spcPts val="1200"/>
              </a:spcBef>
            </a:pPr>
            <a:r>
              <a:rPr sz="2200" b="1" i="0">
                <a:solidFill>
                  <a:srgbClr val="C8C8C8"/>
                </a:solidFill>
                <a:latin typeface="Georgia"/>
              </a:rPr>
              <a:t>❖ Implementation: Custom NumPy/Pandas engine (no AIF360 dependency for cloud compatibility)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AI Interviewer – Definition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 b="1" i="0">
                <a:solidFill>
                  <a:srgbClr val="C8C8C8"/>
                </a:solidFill>
                <a:latin typeface="Georgia"/>
              </a:rPr>
              <a:t>❖ Definition: A structured, AI-assisted interview orchestration system that selects, presents, and evaluates predefined domain-specific questions.</a:t>
            </a:r>
          </a:p>
          <a:p>
            <a:pPr>
              <a:spcBef>
                <a:spcPts val="1200"/>
              </a:spcBef>
            </a:pPr>
            <a:r>
              <a:rPr sz="2000" b="0" i="1">
                <a:solidFill>
                  <a:srgbClr val="C8C8C8"/>
                </a:solidFill>
                <a:latin typeface="Georgia"/>
              </a:rPr>
              <a:t>◆ </a:t>
            </a:r>
          </a:p>
          <a:p>
            <a:pPr>
              <a:spcBef>
                <a:spcPts val="1200"/>
              </a:spcBef>
            </a:pPr>
            <a:r>
              <a:rPr sz="2000" b="1" i="0">
                <a:solidFill>
                  <a:srgbClr val="C8C8C8"/>
                </a:solidFill>
                <a:latin typeface="Georgia"/>
              </a:rPr>
              <a:t>❖ Key Features: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000" b="0" i="1">
                <a:solidFill>
                  <a:srgbClr val="C8C8C8"/>
                </a:solidFill>
                <a:latin typeface="Georgia"/>
              </a:rPr>
              <a:t>◆ Uses curated question banks (100+ questions across 10+ skill categories)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000" b="0" i="1">
                <a:solidFill>
                  <a:srgbClr val="C8C8C8"/>
                </a:solidFill>
                <a:latin typeface="Georgia"/>
              </a:rPr>
              <a:t>◆ Questions ordered: basic → intermediate → advanced (same for all candidates)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000" b="0" i="1">
                <a:solidFill>
                  <a:srgbClr val="C8C8C8"/>
                </a:solidFill>
                <a:latin typeface="Georgia"/>
              </a:rPr>
              <a:t>◆ Keyword relevance scoring against expected concepts</a:t>
            </a:r>
          </a:p>
          <a:p>
            <a:pPr>
              <a:spcBef>
                <a:spcPts val="1200"/>
              </a:spcBef>
            </a:pPr>
            <a:r>
              <a:rPr sz="2000" b="0" i="1">
                <a:solidFill>
                  <a:srgbClr val="C8C8C8"/>
                </a:solidFill>
                <a:latin typeface="Georgia"/>
              </a:rPr>
              <a:t>◆ </a:t>
            </a:r>
          </a:p>
          <a:p>
            <a:pPr>
              <a:spcBef>
                <a:spcPts val="1200"/>
              </a:spcBef>
            </a:pPr>
            <a:r>
              <a:rPr sz="2000" b="1" i="0">
                <a:solidFill>
                  <a:srgbClr val="C8C8C8"/>
                </a:solidFill>
                <a:latin typeface="Georgia"/>
              </a:rPr>
              <a:t>❖ What it is NOT: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000" b="0" i="1">
                <a:solidFill>
                  <a:srgbClr val="C8C8C8"/>
                </a:solidFill>
                <a:latin typeface="Georgia"/>
              </a:rPr>
              <a:t>◆ NOT generative AI – does not create new questions dynamically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000" b="0" i="1">
                <a:solidFill>
                  <a:srgbClr val="C8C8C8"/>
                </a:solidFill>
                <a:latin typeface="Georgia"/>
              </a:rPr>
              <a:t>◆ NOT adaptive per resume – ensures fairness through standardization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000" b="0" i="1">
                <a:solidFill>
                  <a:srgbClr val="C8C8C8"/>
                </a:solidFill>
                <a:latin typeface="Georgia"/>
              </a:rPr>
              <a:t>◆ NOT emotion/personality analysis – text-based evaluation only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Implementation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7295" cy="594360"/>
          </a:xfrm>
          <a:prstGeom prst="rect">
            <a:avLst/>
          </a:prstGeom>
          <a:solidFill>
            <a:srgbClr val="3C3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Georgia"/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508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Georgia"/>
              </a:rP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508760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Georgia"/>
              </a:rPr>
              <a:t>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1277295" cy="594360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Core ATS (Jobs, Applications)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103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✅ 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03120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Flask, 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1277295" cy="594360"/>
          </a:xfrm>
          <a:prstGeom prst="rect">
            <a:avLst/>
          </a:prstGeom>
          <a:solidFill>
            <a:srgbClr val="323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97479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Resume Parser &amp; Anonymizer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269747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✅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79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PyPDF2, spaCy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54680"/>
            <a:ext cx="11277295" cy="594360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AI Interview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291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✅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91840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Rule-based + NLP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11277295" cy="594360"/>
          </a:xfrm>
          <a:prstGeom prst="rect">
            <a:avLst/>
          </a:prstGeom>
          <a:solidFill>
            <a:srgbClr val="323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ML Matching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8862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✅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886200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TF-IDF, BERT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11277295" cy="594360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4805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Fairness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4805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✅ 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480560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NumPy, Pandas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11277295" cy="594360"/>
          </a:xfrm>
          <a:prstGeom prst="rect">
            <a:avLst/>
          </a:prstGeom>
          <a:solidFill>
            <a:srgbClr val="323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074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GDPR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074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✅ 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74920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Export, Delete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32120"/>
            <a:ext cx="11277295" cy="594360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Video/Audio Interview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6692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🔮 Future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669280"/>
            <a:ext cx="3962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C8C8C8"/>
                </a:solidFill>
                <a:latin typeface="Georgia"/>
              </a:rPr>
              <a:t>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Video Interview Recording (Phase 2)</a:t>
            </a:r>
          </a:p>
          <a:p>
            <a:pPr>
              <a:spcBef>
                <a:spcPts val="600"/>
              </a:spcBef>
            </a:pPr>
            <a:r>
              <a:rPr sz="1800" b="0" i="1">
                <a:solidFill>
                  <a:srgbClr val="AAAAAA"/>
                </a:solidFill>
                <a:latin typeface="Georgia"/>
              </a:rPr>
              <a:t>    ◆ Record candidate video responses for recruiter review</a:t>
            </a:r>
          </a:p>
          <a:p>
            <a:pPr>
              <a:spcBef>
                <a:spcPts val="600"/>
              </a:spcBef>
            </a:pPr>
            <a:r>
              <a:rPr sz="1800" b="0" i="1">
                <a:solidFill>
                  <a:srgbClr val="AAAAAA"/>
                </a:solidFill>
                <a:latin typeface="Georgia"/>
              </a:rPr>
              <a:t>    ◆ No automated video analysis planned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Speech-to-Text Transcription (Phase 2)</a:t>
            </a:r>
          </a:p>
          <a:p>
            <a:pPr>
              <a:spcBef>
                <a:spcPts val="600"/>
              </a:spcBef>
            </a:pPr>
            <a:r>
              <a:rPr sz="1800" b="0" i="1">
                <a:solidFill>
                  <a:srgbClr val="AAAAAA"/>
                </a:solidFill>
                <a:latin typeface="Georgia"/>
              </a:rPr>
              <a:t>    ◆ Convert audio responses to text for keyword scoring</a:t>
            </a:r>
          </a:p>
          <a:p>
            <a:pPr>
              <a:spcBef>
                <a:spcPts val="600"/>
              </a:spcBef>
            </a:pPr>
            <a:r>
              <a:rPr sz="1800" b="0" i="1">
                <a:solidFill>
                  <a:srgbClr val="AAAAAA"/>
                </a:solidFill>
                <a:latin typeface="Georgia"/>
              </a:rPr>
              <a:t>    ◆ Leverage existing text evaluation pipeline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Enhanced Semantic Scoring (Phase 3)</a:t>
            </a:r>
          </a:p>
          <a:p>
            <a:pPr>
              <a:spcBef>
                <a:spcPts val="600"/>
              </a:spcBef>
            </a:pPr>
            <a:r>
              <a:rPr sz="1800" b="0" i="1">
                <a:solidFill>
                  <a:srgbClr val="AAAAAA"/>
                </a:solidFill>
                <a:latin typeface="Georgia"/>
              </a:rPr>
              <a:t>    ◆ Fine-tuned domain-specific language models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Multi-Language Support (Phase 3)</a:t>
            </a:r>
          </a:p>
          <a:p>
            <a:pPr>
              <a:spcBef>
                <a:spcPts val="600"/>
              </a:spcBef>
            </a:pPr>
            <a:r>
              <a:rPr sz="1800" b="0" i="1">
                <a:solidFill>
                  <a:srgbClr val="AAAAAA"/>
                </a:solidFill>
                <a:latin typeface="Georgia"/>
              </a:rPr>
              <a:t>    ◆ Hindi, Telugu resume parsing and localized question banks</a:t>
            </a:r>
          </a:p>
          <a:p>
            <a:pPr>
              <a:spcBef>
                <a:spcPts val="1400"/>
              </a:spcBef>
              <a:spcAft>
                <a:spcPts val="400"/>
              </a:spcAft>
            </a:pPr>
            <a:r>
              <a:rPr sz="2200" b="0" i="1">
                <a:solidFill>
                  <a:srgbClr val="C8C8C8"/>
                </a:solidFill>
                <a:latin typeface="Georgia"/>
              </a:rPr>
              <a:t>◆ LinkedIn API Integration (Phase 3)</a:t>
            </a:r>
          </a:p>
          <a:p>
            <a:pPr>
              <a:spcBef>
                <a:spcPts val="600"/>
              </a:spcBef>
            </a:pPr>
            <a:r>
              <a:rPr sz="1800" b="0" i="1">
                <a:solidFill>
                  <a:srgbClr val="AAAAAA"/>
                </a:solidFill>
                <a:latin typeface="Georgia"/>
              </a:rPr>
              <a:t>    ◆ Profile import for candidate convenience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</a:pPr>
            <a:r>
              <a:rPr sz="2400" b="0" i="1">
                <a:solidFill>
                  <a:srgbClr val="C8C8C8"/>
                </a:solidFill>
                <a:latin typeface="Georgia"/>
              </a:rPr>
              <a:t>✓ Developed a production-ready, bias-aware Applicant Tracking System</a:t>
            </a:r>
          </a:p>
          <a:p>
            <a:pPr>
              <a:spcBef>
                <a:spcPts val="1600"/>
              </a:spcBef>
            </a:pPr>
            <a:r>
              <a:rPr sz="2400" b="0" i="1">
                <a:solidFill>
                  <a:srgbClr val="C8C8C8"/>
                </a:solidFill>
                <a:latin typeface="Georgia"/>
              </a:rPr>
              <a:t>✓ Implemented AI-assisted structured interview module with predefined question banks</a:t>
            </a:r>
          </a:p>
          <a:p>
            <a:pPr>
              <a:spcBef>
                <a:spcPts val="1600"/>
              </a:spcBef>
            </a:pPr>
            <a:r>
              <a:rPr sz="2400" b="0" i="1">
                <a:solidFill>
                  <a:srgbClr val="C8C8C8"/>
                </a:solidFill>
                <a:latin typeface="Georgia"/>
              </a:rPr>
              <a:t>✓ Created custom fairness engine with 9+ metrics (cloud-compatible)</a:t>
            </a:r>
          </a:p>
          <a:p>
            <a:pPr>
              <a:spcBef>
                <a:spcPts val="1600"/>
              </a:spcBef>
            </a:pPr>
            <a:r>
              <a:rPr sz="2400" b="0" i="1">
                <a:solidFill>
                  <a:srgbClr val="C8C8C8"/>
                </a:solidFill>
                <a:latin typeface="Georgia"/>
              </a:rPr>
              <a:t>✓ Achieved end-to-end automation with optional human oversight</a:t>
            </a:r>
          </a:p>
          <a:p>
            <a:pPr>
              <a:spcBef>
                <a:spcPts val="1600"/>
              </a:spcBef>
            </a:pPr>
            <a:r>
              <a:rPr sz="2400" b="0" i="1">
                <a:solidFill>
                  <a:srgbClr val="C8C8C8"/>
                </a:solidFill>
                <a:latin typeface="Georgia"/>
              </a:rPr>
              <a:t>✓ System ready for deployment and academic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4682B4"/>
                </a:solidFill>
                <a:latin typeface="Georgia"/>
              </a:rPr>
              <a:t>Thank You |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1671</Words>
  <Application>Microsoft Office PowerPoint</Application>
  <PresentationFormat>Widescreen</PresentationFormat>
  <Paragraphs>211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22VV1A0555 .</cp:lastModifiedBy>
  <cp:revision>2</cp:revision>
  <dcterms:created xsi:type="dcterms:W3CDTF">2013-01-27T09:14:16Z</dcterms:created>
  <dcterms:modified xsi:type="dcterms:W3CDTF">2026-01-12T06:57:57Z</dcterms:modified>
  <cp:category/>
</cp:coreProperties>
</file>