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41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imes New Roman"/>
              </a:rPr>
              <a:t>SMART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C8DCFF"/>
                </a:solidFill>
                <a:latin typeface="Times New Roman"/>
              </a:rPr>
              <a:t>AI-Assisted Bias-Aware Recruitment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1">
                <a:solidFill>
                  <a:srgbClr val="002060"/>
                </a:solidFill>
                <a:latin typeface="Times New Roman"/>
              </a:rPr>
              <a:t>Abstract: </a:t>
            </a:r>
            <a:r>
              <a:rPr sz="2000" b="0">
                <a:solidFill>
                  <a:srgbClr val="333333"/>
                </a:solidFill>
                <a:latin typeface="Times New Roman"/>
              </a:rPr>
              <a:t>This project presents an enterprise-grade Applicant Tracking System (ATS) that integrates AI-assisted interview orchestration, ML-based candidate-job matching, and quantitative fairness auditing. The system automates the recruitment pipeline from application to preliminary scoring while maintaining human oversight for final decisions. A custom fairness engine implementing 9+ bias detection metrics ensures compliance with EEOC guidelines and GDPR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Times New Roman"/>
              </a:rPr>
              <a:t>Team: [Names] | Guide: [Guide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6692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003366"/>
                </a:solidFill>
                <a:latin typeface="Times New Roman"/>
              </a:rPr>
              <a:t>Review-2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Who is Affected?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Job candidates facing biased automated screening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HR departments processing 100+ resumes manually per position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Organizations facing EEOC and GDPR compliance requirements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What is Failing in Current Systems?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Traditional ATS exhibits algorithmic bias (Amazon 2018 case)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Black-box AI decisions with no explainability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Manual screening averages 23 hours per hire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Why This Problem Matters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67% of hiring managers report bias in current systems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Legal penalties for discriminatory hiring practices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AI hiring market: $590M (2023) → $890M (2028)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Current Commercial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Workday, Taleo, Greenhouse ($50K-500K/year)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Basic keyword matching algorithms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 built-in fairness auditing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Black-box AI decision making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Heavy dependencies (AIF360 fails on cloud)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Critical Gaps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 lightweight fairness solution for cloud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 end-to-end integration with bias detection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Lack of GDPR Article 22 compliance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Poor explainability for legal defensibility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 standardized interview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</a:rPr>
              <a:t>Proposed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Smart Hiring System – Key Components: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AI-Assisted Resume Processing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spaCy NLP for entity recognition and skill extraction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PII anonymization before evaluation (names, emails, gender markers)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AI-Assisted Structured Interview Module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Predefined question banks (100+ questions by skill/difficulty)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Keyword relevance scoring for answer evaluation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ML-Based Candidate-Job Matching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TF-IDF vectorization with Sentence-BERT semantic similarity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Weighted scoring: 60% skills + 40% experience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Custom Fairness Engine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9+ metrics: Demographic Parity, Disparate Impact, Equal Opportunity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Pure NumPy/Pandas implementation (no AIF360 dependency)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6278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9080" y="1466225"/>
            <a:ext cx="10698480" cy="822960"/>
          </a:xfrm>
          <a:prstGeom prst="roundRect">
            <a:avLst/>
          </a:prstGeom>
          <a:solidFill>
            <a:srgbClr val="F0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38113"/>
            <a:ext cx="17122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0184" y="1724058"/>
            <a:ext cx="27869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Frontend (HTML/CSS/JS)
Candidate, Recruiter, Admin Portals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9080" y="2926081"/>
            <a:ext cx="10698480" cy="822960"/>
          </a:xfrm>
          <a:prstGeom prst="roundRect">
            <a:avLst/>
          </a:prstGeom>
          <a:solidFill>
            <a:srgbClr val="F0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4440" y="3087225"/>
            <a:ext cx="16121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0242" y="3109710"/>
            <a:ext cx="39639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 | JWT Auth | Rate Limiting | CORS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065" y="4319792"/>
            <a:ext cx="10698480" cy="822960"/>
          </a:xfrm>
          <a:prstGeom prst="roundRect">
            <a:avLst/>
          </a:prstGeom>
          <a:solidFill>
            <a:srgbClr val="F0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549140"/>
            <a:ext cx="18337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184" y="4549140"/>
            <a:ext cx="51312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Engine | Fairness Engine | Matching Engine | Interview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065" y="5762969"/>
            <a:ext cx="10698480" cy="822960"/>
          </a:xfrm>
          <a:prstGeom prst="roundRect">
            <a:avLst/>
          </a:prstGeom>
          <a:solidFill>
            <a:srgbClr val="F0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4360" y="5829300"/>
            <a:ext cx="14688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0242" y="5900129"/>
            <a:ext cx="40831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(Documents) | Redis (Cache) | File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7281" y="6172200"/>
            <a:ext cx="14846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>
                <a:solidFill>
                  <a:srgbClr val="6464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HTTPS/REST ↓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5B11BFB-2CC7-89F8-58A2-F3AE142B9912}"/>
              </a:ext>
            </a:extLst>
          </p:cNvPr>
          <p:cNvSpPr/>
          <p:nvPr/>
        </p:nvSpPr>
        <p:spPr>
          <a:xfrm>
            <a:off x="5433934" y="2343527"/>
            <a:ext cx="484632" cy="58386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710B6EA-5432-5534-1A8A-96F4CBDD9144}"/>
              </a:ext>
            </a:extLst>
          </p:cNvPr>
          <p:cNvSpPr/>
          <p:nvPr/>
        </p:nvSpPr>
        <p:spPr>
          <a:xfrm>
            <a:off x="5503688" y="3795510"/>
            <a:ext cx="484632" cy="58386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0863F85-AF88-0C75-C93E-23EDEC0CB890}"/>
              </a:ext>
            </a:extLst>
          </p:cNvPr>
          <p:cNvSpPr/>
          <p:nvPr/>
        </p:nvSpPr>
        <p:spPr>
          <a:xfrm>
            <a:off x="5451422" y="5180226"/>
            <a:ext cx="484632" cy="58386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</a:rPr>
              <a:t>End-to-End Automated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1: User Registration &amp; Authentication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JWT-based auth with optional 2FA, RBAC with 30+ permissions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2: Job Listing &amp; Application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Candidates browse jobs, submit applications with resume upload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3: Resume Parsing &amp; Anonymization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Text extraction (PDF/DOCX), PII removal, skill identification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4: AI-Assisted Interview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Structured questions presented, text responses collected and scored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5: Candidate Scoring &amp; Ranking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Multi-factor ML scoring, fairness audit, dashboard display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Step 6: Human Review (Optional)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Final hiring decisions made by recruiters with AI-generated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AI Interviewer – Formal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201168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200" b="1">
                <a:solidFill>
                  <a:srgbClr val="003366"/>
                </a:solidFill>
                <a:latin typeface="Times New Roman"/>
              </a:rPr>
              <a:t>Definition: </a:t>
            </a:r>
            <a:r>
              <a:rPr sz="2200" b="0">
                <a:solidFill>
                  <a:srgbClr val="333333"/>
                </a:solidFill>
                <a:latin typeface="Times New Roman"/>
              </a:rPr>
              <a:t>A structured, AI-assisted interview orchestration system that selects, presents, and evaluates predefined domain-specific questions using rule-based logic and ML-based scoring — not a free-form conversational or generative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Uses curated question banks (100+ questions across 10+ skill categories)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Questions ordered: basic → intermediate → advanced (same for all candidates)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Keyword relevance scoring against expected concepts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NOT generative AI – does not create new questions dynamically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NOT adaptive per resume – ensures fairness through standardization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NOT emotion/personality analysis – text-based evaluation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</a:rPr>
              <a:t>Resume Parsing &amp; ML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Resume Text Extraction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PyPDF2 for PDF, python-docx for DOCX, encoding fallback for TXT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PII Anonymization (Pre-Evaluation)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Regex + spaCy NER removes: names, emails, phones, gender markers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Ensures blind evaluation for fairness compliance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Skill Extraction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Database of 200+ skills (programming, cloud, soft skills)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spaCy NER for contextual extraction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Semantic Job-Resume Matching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TF-IDF vectorization for baseline matching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Sentence-BERT (all-MiniLM-L6-v2) for semantic similarity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Cosine similarity scoring (0-100%)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Fairness &amp; Bias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Formula/Definition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Threshold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Academic Source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Demographic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Selection rate equality across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Diff &lt;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Dwork et al.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Disparate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Ratio of selection rates (min/max)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≥ 0.8 (80% Rule)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EEOC 1978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Equal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TPR equality across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Diff &lt;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Hardt et al. 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Equalized Odds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TPR + FPR equality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Avg diff &lt;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Hardt et al. 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Theil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Entropy-based inequality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&lt;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Speicher 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Automation vs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Fully Automated (No Human Required)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User registration &amp; authentication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Job listing discovery &amp; application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Resume upload, parsing, anonymization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Skill extraction &amp; matching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Interview question presentation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Answer collection &amp; scoring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Candidate ranking &amp; dashboards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Fairness audit generation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Email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Human Oversight (By Design)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Final hiring decision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Interview question bank curation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Fairness threshold configuration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Exception handling for edge cases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Compliance review and sign-off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Note: Human involvement is OPTIONAL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for screening but RECOMMENDED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for final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System Capabilities – Clear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The System DOES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Select from predefined question banks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Score answers via keyword relevance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Compute 9+ fairness metrics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Anonymize resumes before evaluation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Provide explainable score breakdowns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Generate transparency reports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Support text-based interview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Times New Roman"/>
              </a:rPr>
              <a:t>The System Does NOT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Generate new questions dynamically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Analyze video or audio content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Detect emotions or facial expressions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Infer personality traits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Adapt difficulty per candidate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Replace human judgment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333333"/>
                </a:solidFill>
                <a:latin typeface="Times New Roman"/>
              </a:rPr>
              <a:t>• Claim to "understand" responses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Implementation Status (Current)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Lines of Code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Core ATS (Jobs, Applications)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Flask, 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Resume Parser &amp; Anonymizer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PyPDF2, spaCy, regex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AI Interview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Rule-based + NLP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ML Matching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TF-IDF, Sentence-BERT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Fairness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NumPy, Pandas (custom)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GDPR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Export, Delete, Anonymize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~400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Video/Audio Interview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🔮 Future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5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36095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</a:rPr>
              <a:t>Demo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7655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What Will Be Demonstrated: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User Flow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Registration → Login → Job Listing → Application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Resume Processing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Upload PDF → View extracted text → See anonymized version → Skill list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AI-Assisted Interview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Generate questions for job → Submit sample answer → View keyword score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Candidate Ranking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ML score breakdown (skills, experience, similarity)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Rank position with percentile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/>
              </a:rPr>
              <a:t>• Fairness Dashboard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Demographic parity, disparate impact metrics displayed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/>
              </a:rPr>
              <a:t>    ◦ Violation flagging with thresholds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57162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(Explicitly Marked)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614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Video Interview Recording (P2)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Record candidate video responses for recruiter review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No automated video analysis planned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Speech-to-Text Transcription (P2)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Convert audio responses to text for keyword scoring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Leverage existing text evaluation pipeline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Enhanced Semantic Scoring (P3)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Fine-tuned domain-specific language models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Deeper answer comprehension (beyond keywords)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 (P3)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Hindi, Telugu resume parsing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Localized question banks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LinkedIn API Integration (P3)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50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Profile import for candidate convenience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✓ Developed a production-ready, bias-aware Applicant Tracking System</a:t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✓ Implemented AI-assisted structured interview module with predefined question banks</a:t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✓ Created custom fairness engine with 9+ metrics (no AIF360 dependency)</a:t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✓ Achieved end-to-end automation with optional human oversight</a:t>
            </a:r>
          </a:p>
          <a:p>
            <a:pPr algn="l"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✓ System ready for deployment and academic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C8DCFF"/>
                </a:solidFill>
                <a:latin typeface="Times New Roman"/>
              </a:rPr>
              <a:t>Thank You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1420</Words>
  <Application>Microsoft Office PowerPoint</Application>
  <PresentationFormat>Widescreen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22VV1A0555 .</cp:lastModifiedBy>
  <cp:revision>2</cp:revision>
  <dcterms:created xsi:type="dcterms:W3CDTF">2013-01-27T09:14:16Z</dcterms:created>
  <dcterms:modified xsi:type="dcterms:W3CDTF">2026-01-14T14:53:57Z</dcterms:modified>
  <cp:category/>
</cp:coreProperties>
</file>